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74" r:id="rId2"/>
    <p:sldId id="328" r:id="rId3"/>
    <p:sldId id="321" r:id="rId4"/>
    <p:sldId id="338" r:id="rId5"/>
    <p:sldId id="320" r:id="rId6"/>
    <p:sldId id="276" r:id="rId7"/>
    <p:sldId id="277" r:id="rId8"/>
    <p:sldId id="318" r:id="rId9"/>
    <p:sldId id="319" r:id="rId10"/>
    <p:sldId id="322" r:id="rId11"/>
    <p:sldId id="325" r:id="rId12"/>
    <p:sldId id="339" r:id="rId13"/>
    <p:sldId id="340" r:id="rId14"/>
    <p:sldId id="341" r:id="rId15"/>
    <p:sldId id="352" r:id="rId16"/>
    <p:sldId id="353" r:id="rId17"/>
    <p:sldId id="354" r:id="rId18"/>
    <p:sldId id="355" r:id="rId19"/>
    <p:sldId id="292" r:id="rId20"/>
    <p:sldId id="356" r:id="rId21"/>
    <p:sldId id="259" r:id="rId22"/>
    <p:sldId id="357" r:id="rId23"/>
    <p:sldId id="262" r:id="rId24"/>
    <p:sldId id="317" r:id="rId25"/>
    <p:sldId id="279" r:id="rId26"/>
    <p:sldId id="263" r:id="rId27"/>
    <p:sldId id="293" r:id="rId28"/>
    <p:sldId id="358" r:id="rId29"/>
    <p:sldId id="331" r:id="rId30"/>
    <p:sldId id="335" r:id="rId31"/>
    <p:sldId id="359" r:id="rId32"/>
    <p:sldId id="336" r:id="rId33"/>
    <p:sldId id="334" r:id="rId34"/>
    <p:sldId id="360" r:id="rId35"/>
    <p:sldId id="337" r:id="rId36"/>
    <p:sldId id="296" r:id="rId37"/>
    <p:sldId id="361" r:id="rId38"/>
    <p:sldId id="297" r:id="rId39"/>
    <p:sldId id="310" r:id="rId40"/>
    <p:sldId id="282" r:id="rId41"/>
    <p:sldId id="362" r:id="rId42"/>
    <p:sldId id="346" r:id="rId43"/>
    <p:sldId id="347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49" r:id="rId55"/>
    <p:sldId id="373" r:id="rId56"/>
    <p:sldId id="298" r:id="rId57"/>
    <p:sldId id="301" r:id="rId58"/>
    <p:sldId id="300" r:id="rId59"/>
    <p:sldId id="299" r:id="rId60"/>
    <p:sldId id="285" r:id="rId61"/>
    <p:sldId id="289" r:id="rId62"/>
    <p:sldId id="287" r:id="rId63"/>
    <p:sldId id="288" r:id="rId6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99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10671-29C4-4DA5-BF12-2DBC943794A9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1F39B-DE3A-423D-802A-031C0D3388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74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3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75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2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99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075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28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93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50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30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33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330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60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C55D4-A66A-425E-85B5-AF7B4D8609E4}" type="datetimeFigureOut">
              <a:rPr lang="pt-BR" smtClean="0"/>
              <a:t>21/09/2025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D3A08-A6D6-4EAF-9AD5-6B411538F7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51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23081" y="818866"/>
            <a:ext cx="115869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/>
              <a:t>CAPÍTULO 3 </a:t>
            </a:r>
          </a:p>
          <a:p>
            <a:pPr algn="ctr"/>
            <a:r>
              <a:rPr lang="pt-BR" sz="6000" b="1" dirty="0"/>
              <a:t>COMANDOS BÁSICOS DO PYTHON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22" y="3277322"/>
            <a:ext cx="2685399" cy="308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2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335746" y="1059795"/>
            <a:ext cx="8109812" cy="5262979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3600" dirty="0"/>
              <a:t>Python é uma linguagem de programação de alto nível, interpretada e de propósito geral, conhecida por sua sintaxe clara e legibilidade.</a:t>
            </a:r>
            <a:r>
              <a:rPr lang="pt-BR" sz="3600" baseline="30000" dirty="0"/>
              <a:t> </a:t>
            </a:r>
          </a:p>
          <a:p>
            <a:pPr algn="just"/>
            <a:endParaRPr lang="pt-BR" sz="3600" baseline="30000" dirty="0"/>
          </a:p>
          <a:p>
            <a:pPr algn="just"/>
            <a:endParaRPr lang="pt-BR" sz="3600" baseline="30000" dirty="0"/>
          </a:p>
          <a:p>
            <a:pPr algn="just"/>
            <a:r>
              <a:rPr lang="pt-BR" sz="3600" baseline="30000" dirty="0"/>
              <a:t> </a:t>
            </a:r>
            <a:r>
              <a:rPr lang="pt-BR" sz="3600" dirty="0"/>
              <a:t>Criada por Guido van </a:t>
            </a:r>
            <a:r>
              <a:rPr lang="pt-BR" sz="3600" dirty="0" err="1"/>
              <a:t>Rossum</a:t>
            </a:r>
            <a:r>
              <a:rPr lang="pt-BR" sz="3600" dirty="0"/>
              <a:t> e lançada em 1991, Python conquistou popularidade devido à sua versatilidade e facilidade de uso</a:t>
            </a:r>
          </a:p>
        </p:txBody>
      </p:sp>
    </p:spTree>
    <p:extLst>
      <p:ext uri="{BB962C8B-B14F-4D97-AF65-F5344CB8AC3E}">
        <p14:creationId xmlns:p14="http://schemas.microsoft.com/office/powerpoint/2010/main" val="6770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47F60F4-00FA-45D6-806E-F70AE9FE6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86" y="879994"/>
            <a:ext cx="9467496" cy="4664772"/>
          </a:xfrm>
          <a:prstGeom prst="rect">
            <a:avLst/>
          </a:prstGeom>
          <a:ln w="571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38317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98" y="1088371"/>
            <a:ext cx="10655030" cy="5288465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752561" y="481164"/>
            <a:ext cx="3552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</a:rPr>
              <a:t>IDE - PORTUGOL</a:t>
            </a:r>
          </a:p>
        </p:txBody>
      </p:sp>
    </p:spTree>
    <p:extLst>
      <p:ext uri="{BB962C8B-B14F-4D97-AF65-F5344CB8AC3E}">
        <p14:creationId xmlns:p14="http://schemas.microsoft.com/office/powerpoint/2010/main" val="257644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9DC7F7A-2425-47EF-98A7-0E45927F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55" y="1427428"/>
            <a:ext cx="7775634" cy="5060196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FC279CE2-336F-4053-BF17-DBE79C730BCF}"/>
              </a:ext>
            </a:extLst>
          </p:cNvPr>
          <p:cNvSpPr/>
          <p:nvPr/>
        </p:nvSpPr>
        <p:spPr>
          <a:xfrm rot="7893549">
            <a:off x="4400724" y="3198903"/>
            <a:ext cx="5808548" cy="68541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A041A8-5685-F53D-4884-BC53026AE8BE}"/>
              </a:ext>
            </a:extLst>
          </p:cNvPr>
          <p:cNvSpPr txBox="1"/>
          <p:nvPr/>
        </p:nvSpPr>
        <p:spPr>
          <a:xfrm>
            <a:off x="1293779" y="116732"/>
            <a:ext cx="10898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PYCHARM</a:t>
            </a:r>
          </a:p>
        </p:txBody>
      </p:sp>
    </p:spTree>
    <p:extLst>
      <p:ext uri="{BB962C8B-B14F-4D97-AF65-F5344CB8AC3E}">
        <p14:creationId xmlns:p14="http://schemas.microsoft.com/office/powerpoint/2010/main" val="3854108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194"/>
            <a:ext cx="12099947" cy="62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2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01" y="244828"/>
            <a:ext cx="8447964" cy="6613172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259308" y="2279176"/>
            <a:ext cx="26701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6">
                    <a:lumMod val="75000"/>
                  </a:schemeClr>
                </a:solidFill>
              </a:rPr>
              <a:t>IDE´S ALTERNATIVOS AO PYCHARM</a:t>
            </a:r>
          </a:p>
        </p:txBody>
      </p:sp>
    </p:spTree>
    <p:extLst>
      <p:ext uri="{BB962C8B-B14F-4D97-AF65-F5344CB8AC3E}">
        <p14:creationId xmlns:p14="http://schemas.microsoft.com/office/powerpoint/2010/main" val="608171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89E04E0-AF3B-42BA-83E2-D0D047A38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4" y="947789"/>
            <a:ext cx="9571952" cy="573961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E0021EA-9877-2FBD-F853-3B23CC658591}"/>
              </a:ext>
            </a:extLst>
          </p:cNvPr>
          <p:cNvSpPr txBox="1"/>
          <p:nvPr/>
        </p:nvSpPr>
        <p:spPr>
          <a:xfrm>
            <a:off x="136188" y="170593"/>
            <a:ext cx="10898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COLAB O IDE ONLINE DE PYTHON DA GOOGLE</a:t>
            </a:r>
          </a:p>
        </p:txBody>
      </p:sp>
    </p:spTree>
    <p:extLst>
      <p:ext uri="{BB962C8B-B14F-4D97-AF65-F5344CB8AC3E}">
        <p14:creationId xmlns:p14="http://schemas.microsoft.com/office/powerpoint/2010/main" val="329896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DE3D475-27C0-45A1-A1E7-5BC55FF81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601"/>
            <a:ext cx="12192000" cy="599089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732F5814-B758-473C-AD15-80D3C8F36939}"/>
              </a:ext>
            </a:extLst>
          </p:cNvPr>
          <p:cNvSpPr/>
          <p:nvPr/>
        </p:nvSpPr>
        <p:spPr>
          <a:xfrm rot="14097718">
            <a:off x="2255096" y="1818916"/>
            <a:ext cx="694267" cy="10160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9027ED7-9B67-4633-89C7-16B52C6FE6E4}"/>
              </a:ext>
            </a:extLst>
          </p:cNvPr>
          <p:cNvSpPr/>
          <p:nvPr/>
        </p:nvSpPr>
        <p:spPr>
          <a:xfrm rot="16200000">
            <a:off x="1747096" y="5982869"/>
            <a:ext cx="694267" cy="10160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CFC2EC-74D4-4308-9896-8F5983FDF98B}"/>
              </a:ext>
            </a:extLst>
          </p:cNvPr>
          <p:cNvSpPr txBox="1"/>
          <p:nvPr/>
        </p:nvSpPr>
        <p:spPr>
          <a:xfrm>
            <a:off x="194554" y="-44494"/>
            <a:ext cx="10898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COLAB O IDE ONLINE DE PYTHON DA GOOGLE</a:t>
            </a:r>
          </a:p>
        </p:txBody>
      </p:sp>
    </p:spTree>
    <p:extLst>
      <p:ext uri="{BB962C8B-B14F-4D97-AF65-F5344CB8AC3E}">
        <p14:creationId xmlns:p14="http://schemas.microsoft.com/office/powerpoint/2010/main" val="920618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F61E7B29-088C-E653-A05A-CA4A07461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21" y="260912"/>
            <a:ext cx="8433881" cy="274123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F8D9960-1CBC-68B1-19D9-E3B95BB65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8833"/>
            <a:ext cx="12192000" cy="3779167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E52D582-7763-422D-BD54-228E7882DF34}"/>
              </a:ext>
            </a:extLst>
          </p:cNvPr>
          <p:cNvSpPr/>
          <p:nvPr/>
        </p:nvSpPr>
        <p:spPr>
          <a:xfrm rot="6932589">
            <a:off x="5222140" y="2004028"/>
            <a:ext cx="2937943" cy="33461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E768BE0-2C62-6D37-B512-00A352435119}"/>
              </a:ext>
            </a:extLst>
          </p:cNvPr>
          <p:cNvSpPr txBox="1"/>
          <p:nvPr/>
        </p:nvSpPr>
        <p:spPr>
          <a:xfrm>
            <a:off x="6896911" y="3515034"/>
            <a:ext cx="393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Nome de seu programa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B3634607-B203-7718-C6D3-BF30FEEB49AB}"/>
              </a:ext>
            </a:extLst>
          </p:cNvPr>
          <p:cNvCxnSpPr/>
          <p:nvPr/>
        </p:nvCxnSpPr>
        <p:spPr>
          <a:xfrm flipH="1">
            <a:off x="4776281" y="3803515"/>
            <a:ext cx="19649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82547BE-44F1-A2BA-6C95-34B34708885A}"/>
              </a:ext>
            </a:extLst>
          </p:cNvPr>
          <p:cNvSpPr txBox="1"/>
          <p:nvPr/>
        </p:nvSpPr>
        <p:spPr>
          <a:xfrm>
            <a:off x="6251642" y="4005077"/>
            <a:ext cx="594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Nome do local que você vai gravar o seu programa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5B1B69A6-26E8-E778-6B63-1E92DC02C2BE}"/>
              </a:ext>
            </a:extLst>
          </p:cNvPr>
          <p:cNvCxnSpPr/>
          <p:nvPr/>
        </p:nvCxnSpPr>
        <p:spPr>
          <a:xfrm flipH="1">
            <a:off x="4131013" y="4293558"/>
            <a:ext cx="19649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A6F061D-6C9B-BE47-3759-74CE4D9041B1}"/>
              </a:ext>
            </a:extLst>
          </p:cNvPr>
          <p:cNvSpPr txBox="1"/>
          <p:nvPr/>
        </p:nvSpPr>
        <p:spPr>
          <a:xfrm>
            <a:off x="8372272" y="4653014"/>
            <a:ext cx="393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Marque para criar um programa inicial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2120041E-8E62-9616-000D-7D5BE5418C69}"/>
              </a:ext>
            </a:extLst>
          </p:cNvPr>
          <p:cNvCxnSpPr/>
          <p:nvPr/>
        </p:nvCxnSpPr>
        <p:spPr>
          <a:xfrm flipH="1">
            <a:off x="6251642" y="4941495"/>
            <a:ext cx="19649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6CAF34-13FB-F8A0-236E-B69A100CE870}"/>
              </a:ext>
            </a:extLst>
          </p:cNvPr>
          <p:cNvSpPr txBox="1"/>
          <p:nvPr/>
        </p:nvSpPr>
        <p:spPr>
          <a:xfrm>
            <a:off x="9260732" y="330740"/>
            <a:ext cx="25778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accent6">
                    <a:lumMod val="75000"/>
                  </a:schemeClr>
                </a:solidFill>
              </a:rPr>
              <a:t>USANDO O PYCHARM</a:t>
            </a:r>
          </a:p>
        </p:txBody>
      </p:sp>
    </p:spTree>
    <p:extLst>
      <p:ext uri="{BB962C8B-B14F-4D97-AF65-F5344CB8AC3E}">
        <p14:creationId xmlns:p14="http://schemas.microsoft.com/office/powerpoint/2010/main" val="1138509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75680A7-DDAC-C8CB-65C1-8680154CD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047"/>
            <a:ext cx="12192000" cy="4465905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444FFCCE-F2BD-4AE6-BF1B-483C213EFD18}"/>
              </a:ext>
            </a:extLst>
          </p:cNvPr>
          <p:cNvSpPr/>
          <p:nvPr/>
        </p:nvSpPr>
        <p:spPr>
          <a:xfrm rot="8785180">
            <a:off x="8884631" y="3126744"/>
            <a:ext cx="330261" cy="311295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3D3C3125-ABE8-4418-BD00-04F12A1AB266}"/>
              </a:ext>
            </a:extLst>
          </p:cNvPr>
          <p:cNvSpPr/>
          <p:nvPr/>
        </p:nvSpPr>
        <p:spPr>
          <a:xfrm rot="11057527">
            <a:off x="595760" y="2341832"/>
            <a:ext cx="330261" cy="311295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1C5184-94F5-40C7-AA69-A6EF23C37F37}"/>
              </a:ext>
            </a:extLst>
          </p:cNvPr>
          <p:cNvSpPr txBox="1"/>
          <p:nvPr/>
        </p:nvSpPr>
        <p:spPr>
          <a:xfrm>
            <a:off x="337405" y="5900515"/>
            <a:ext cx="2971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NOME DO PROGRAMA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704996B1-5467-4B34-A462-2C5CDE34C8EC}"/>
              </a:ext>
            </a:extLst>
          </p:cNvPr>
          <p:cNvSpPr/>
          <p:nvPr/>
        </p:nvSpPr>
        <p:spPr>
          <a:xfrm rot="17092506">
            <a:off x="9347458" y="-780753"/>
            <a:ext cx="330261" cy="328562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C645C2-3FEB-43CC-AD64-BA83870BD502}"/>
              </a:ext>
            </a:extLst>
          </p:cNvPr>
          <p:cNvSpPr txBox="1"/>
          <p:nvPr/>
        </p:nvSpPr>
        <p:spPr>
          <a:xfrm>
            <a:off x="6396541" y="158740"/>
            <a:ext cx="2971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</a:rPr>
              <a:t>Executar o Programa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43EB73E-09D7-7125-06B4-533058E43BDB}"/>
              </a:ext>
            </a:extLst>
          </p:cNvPr>
          <p:cNvSpPr txBox="1"/>
          <p:nvPr/>
        </p:nvSpPr>
        <p:spPr>
          <a:xfrm>
            <a:off x="8378937" y="6071279"/>
            <a:ext cx="2971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CODIGO INICIAL </a:t>
            </a:r>
          </a:p>
        </p:txBody>
      </p:sp>
    </p:spTree>
    <p:extLst>
      <p:ext uri="{BB962C8B-B14F-4D97-AF65-F5344CB8AC3E}">
        <p14:creationId xmlns:p14="http://schemas.microsoft.com/office/powerpoint/2010/main" val="283894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A4B0A5-092E-4A45-5C72-54F1A55AD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17" y="965154"/>
            <a:ext cx="11277600" cy="566699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FFC6F4D-59E6-BDF2-A8B3-8BC72A70525A}"/>
              </a:ext>
            </a:extLst>
          </p:cNvPr>
          <p:cNvSpPr txBox="1"/>
          <p:nvPr/>
        </p:nvSpPr>
        <p:spPr>
          <a:xfrm>
            <a:off x="729574" y="321013"/>
            <a:ext cx="108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USANDO O PYTHON APÓS APRENDER LÓGICA COM O PORTUGOL WEB STUDIO</a:t>
            </a:r>
          </a:p>
        </p:txBody>
      </p:sp>
    </p:spTree>
    <p:extLst>
      <p:ext uri="{BB962C8B-B14F-4D97-AF65-F5344CB8AC3E}">
        <p14:creationId xmlns:p14="http://schemas.microsoft.com/office/powerpoint/2010/main" val="148412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3630E2D-2541-239D-C0CB-133E05213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421" y="684318"/>
            <a:ext cx="8409157" cy="5571066"/>
          </a:xfrm>
          <a:prstGeom prst="rect">
            <a:avLst/>
          </a:prstGeom>
        </p:spPr>
      </p:pic>
      <p:sp>
        <p:nvSpPr>
          <p:cNvPr id="15" name="CaixaDeTexto 5">
            <a:extLst>
              <a:ext uri="{FF2B5EF4-FFF2-40B4-BE49-F238E27FC236}">
                <a16:creationId xmlns:a16="http://schemas.microsoft.com/office/drawing/2014/main" id="{E1A95C8A-8000-4C94-BCCD-33B22BBF5B43}"/>
              </a:ext>
            </a:extLst>
          </p:cNvPr>
          <p:cNvSpPr txBox="1"/>
          <p:nvPr/>
        </p:nvSpPr>
        <p:spPr>
          <a:xfrm>
            <a:off x="7516576" y="8821738"/>
            <a:ext cx="1114408" cy="3893374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</a:rPr>
              <a:t>if (condição) :</a:t>
            </a:r>
          </a:p>
          <a:p>
            <a:pPr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</a:rPr>
              <a:t>    instrução</a:t>
            </a:r>
            <a:r>
              <a:rPr lang="pt-BR" sz="900" b="1" baseline="0">
                <a:solidFill>
                  <a:srgbClr val="FF0000"/>
                </a:solidFill>
              </a:rPr>
              <a:t> 1</a:t>
            </a:r>
          </a:p>
          <a:p>
            <a:pPr>
              <a:spcAft>
                <a:spcPts val="600"/>
              </a:spcAft>
            </a:pPr>
            <a:r>
              <a:rPr lang="pt-BR" sz="900" b="1" baseline="0">
                <a:solidFill>
                  <a:srgbClr val="FF0000"/>
                </a:solidFill>
              </a:rPr>
              <a:t>    instrução 2</a:t>
            </a:r>
          </a:p>
          <a:p>
            <a:pPr>
              <a:spcAft>
                <a:spcPts val="600"/>
              </a:spcAft>
            </a:pPr>
            <a:r>
              <a:rPr lang="pt-BR" sz="900" b="1" baseline="0">
                <a:solidFill>
                  <a:srgbClr val="FF0000"/>
                </a:solidFill>
              </a:rPr>
              <a:t>       .......</a:t>
            </a:r>
          </a:p>
          <a:p>
            <a:pPr>
              <a:spcAft>
                <a:spcPts val="600"/>
              </a:spcAft>
            </a:pPr>
            <a:r>
              <a:rPr lang="pt-BR" sz="900" b="1" baseline="0">
                <a:solidFill>
                  <a:srgbClr val="FF0000"/>
                </a:solidFill>
              </a:rPr>
              <a:t>     instrução n</a:t>
            </a:r>
          </a:p>
          <a:p>
            <a:pPr>
              <a:spcAft>
                <a:spcPts val="600"/>
              </a:spcAft>
            </a:pPr>
            <a:r>
              <a:rPr lang="pt-BR" sz="900" b="1" baseline="0">
                <a:solidFill>
                  <a:srgbClr val="FF0000"/>
                </a:solidFill>
              </a:rPr>
              <a:t>elif (condição):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instrução 11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instrução 12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   .......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instrução 1n 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else: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   instrução 21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    instrução 22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   .......</a:t>
            </a:r>
          </a:p>
          <a:p>
            <a:pPr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          instrução 2n  </a:t>
            </a:r>
          </a:p>
          <a:p>
            <a:pPr marL="0" indent="0">
              <a:spcAft>
                <a:spcPts val="600"/>
              </a:spcAft>
            </a:pPr>
            <a:r>
              <a:rPr lang="pt-BR" sz="900" b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>
              <a:spcAft>
                <a:spcPts val="600"/>
              </a:spcAft>
            </a:pPr>
            <a:endParaRPr lang="pt-BR" sz="900" b="1" baseline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endParaRPr lang="pt-BR" sz="900" b="1">
              <a:solidFill>
                <a:srgbClr val="FF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CDEEDB-5802-6986-4643-A9206D8CB596}"/>
              </a:ext>
            </a:extLst>
          </p:cNvPr>
          <p:cNvSpPr txBox="1"/>
          <p:nvPr/>
        </p:nvSpPr>
        <p:spPr>
          <a:xfrm>
            <a:off x="829736" y="100098"/>
            <a:ext cx="108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USANDO O PYTHON APÓS APRENDER LÓGICA COM O PORTUGOL WEB STUDIO</a:t>
            </a:r>
          </a:p>
        </p:txBody>
      </p:sp>
    </p:spTree>
    <p:extLst>
      <p:ext uri="{BB962C8B-B14F-4D97-AF65-F5344CB8AC3E}">
        <p14:creationId xmlns:p14="http://schemas.microsoft.com/office/powerpoint/2010/main" val="3988918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39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BA0E73D-406C-4CEF-0ABB-38C854A39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02402"/>
            <a:ext cx="10905066" cy="365319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717010B-535E-7D23-C34B-0774079AA0B8}"/>
              </a:ext>
            </a:extLst>
          </p:cNvPr>
          <p:cNvSpPr txBox="1"/>
          <p:nvPr/>
        </p:nvSpPr>
        <p:spPr>
          <a:xfrm>
            <a:off x="739302" y="18395"/>
            <a:ext cx="10885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USANDO O PYTHON APÓS APRENDER LÓGICA COM O PORTUGOL WEB STUDIO</a:t>
            </a:r>
          </a:p>
        </p:txBody>
      </p:sp>
    </p:spTree>
    <p:extLst>
      <p:ext uri="{BB962C8B-B14F-4D97-AF65-F5344CB8AC3E}">
        <p14:creationId xmlns:p14="http://schemas.microsoft.com/office/powerpoint/2010/main" val="1708647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2612D8D-C88B-42B7-9659-9889B9B2EAFF}"/>
              </a:ext>
            </a:extLst>
          </p:cNvPr>
          <p:cNvSpPr txBox="1"/>
          <p:nvPr/>
        </p:nvSpPr>
        <p:spPr>
          <a:xfrm>
            <a:off x="668867" y="152400"/>
            <a:ext cx="975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EXERCICIO 12 – converta os programas abaixo de </a:t>
            </a:r>
            <a:r>
              <a:rPr lang="pt-BR" dirty="0" err="1"/>
              <a:t>portugol</a:t>
            </a:r>
            <a:r>
              <a:rPr lang="pt-BR" dirty="0"/>
              <a:t> para </a:t>
            </a:r>
            <a:r>
              <a:rPr lang="pt-BR" dirty="0" err="1"/>
              <a:t>python</a:t>
            </a:r>
            <a:r>
              <a:rPr lang="pt-BR" dirty="0"/>
              <a:t> e tente processá-los usando o </a:t>
            </a:r>
            <a:r>
              <a:rPr lang="pt-BR" dirty="0" err="1"/>
              <a:t>Pycharm</a:t>
            </a:r>
            <a:r>
              <a:rPr lang="pt-BR" dirty="0"/>
              <a:t> ou o </a:t>
            </a:r>
            <a:r>
              <a:rPr lang="pt-BR" dirty="0" err="1"/>
              <a:t>Colab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E4D849-067D-4D65-B25D-1934D8979E16}"/>
              </a:ext>
            </a:extLst>
          </p:cNvPr>
          <p:cNvSpPr txBox="1"/>
          <p:nvPr/>
        </p:nvSpPr>
        <p:spPr>
          <a:xfrm>
            <a:off x="205892" y="2184553"/>
            <a:ext cx="3333176" cy="28469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100" b="1" dirty="0">
                <a:latin typeface="Abadi" panose="020B0604020104020204" pitchFamily="34" charset="0"/>
              </a:rPr>
              <a:t>1.  Converte Reais em Dólares</a:t>
            </a:r>
          </a:p>
          <a:p>
            <a:r>
              <a:rPr lang="pt-BR" sz="1200" dirty="0"/>
              <a:t>programa</a:t>
            </a:r>
          </a:p>
          <a:p>
            <a:r>
              <a:rPr lang="pt-BR" sz="1200" dirty="0"/>
              <a:t>{</a:t>
            </a:r>
          </a:p>
          <a:p>
            <a:r>
              <a:rPr lang="pt-BR" sz="1200" dirty="0"/>
              <a:t>      </a:t>
            </a:r>
            <a:r>
              <a:rPr lang="pt-BR" sz="1200" dirty="0" err="1"/>
              <a:t>funcao</a:t>
            </a:r>
            <a:r>
              <a:rPr lang="pt-BR" sz="1200" dirty="0"/>
              <a:t> inicio()</a:t>
            </a:r>
          </a:p>
          <a:p>
            <a:r>
              <a:rPr lang="pt-BR" sz="1200" dirty="0"/>
              <a:t>          {</a:t>
            </a:r>
          </a:p>
          <a:p>
            <a:r>
              <a:rPr lang="pt-BR" sz="1200" dirty="0"/>
              <a:t>             real reais</a:t>
            </a:r>
          </a:p>
          <a:p>
            <a:r>
              <a:rPr lang="pt-BR" sz="1200" dirty="0"/>
              <a:t>             real </a:t>
            </a:r>
            <a:r>
              <a:rPr lang="pt-BR" sz="1200" dirty="0" err="1"/>
              <a:t>dolares</a:t>
            </a:r>
            <a:endParaRPr lang="pt-BR" sz="1200" dirty="0"/>
          </a:p>
          <a:p>
            <a:r>
              <a:rPr lang="pt-BR" sz="1200" dirty="0"/>
              <a:t>             real </a:t>
            </a:r>
            <a:r>
              <a:rPr lang="pt-BR" sz="1200" dirty="0" err="1"/>
              <a:t>cotacao</a:t>
            </a:r>
            <a:r>
              <a:rPr lang="pt-BR" sz="1200" dirty="0"/>
              <a:t> = 5.15</a:t>
            </a:r>
          </a:p>
          <a:p>
            <a:r>
              <a:rPr lang="pt-BR" sz="1200" dirty="0"/>
              <a:t>              escreva("Digite a quantia em Reais (R$): ")</a:t>
            </a:r>
          </a:p>
          <a:p>
            <a:r>
              <a:rPr lang="pt-BR" sz="1200" dirty="0"/>
              <a:t>               leia(reais)</a:t>
            </a:r>
          </a:p>
          <a:p>
            <a:r>
              <a:rPr lang="pt-BR" sz="1200" dirty="0"/>
              <a:t>               </a:t>
            </a:r>
            <a:r>
              <a:rPr lang="pt-BR" sz="1200" dirty="0" err="1"/>
              <a:t>dolares</a:t>
            </a:r>
            <a:r>
              <a:rPr lang="pt-BR" sz="1200" dirty="0"/>
              <a:t> = reais / </a:t>
            </a:r>
            <a:r>
              <a:rPr lang="pt-BR" sz="1200" dirty="0" err="1"/>
              <a:t>cotacao</a:t>
            </a:r>
            <a:endParaRPr lang="pt-BR" sz="1200" dirty="0"/>
          </a:p>
          <a:p>
            <a:r>
              <a:rPr lang="pt-BR" sz="1200" dirty="0"/>
              <a:t>               escreva("Com R$", reais, ", você  </a:t>
            </a:r>
          </a:p>
          <a:p>
            <a:r>
              <a:rPr lang="pt-BR" sz="1200" dirty="0"/>
              <a:t>                pode comprar US$", </a:t>
            </a:r>
            <a:r>
              <a:rPr lang="pt-BR" sz="1200" dirty="0" err="1"/>
              <a:t>dolares</a:t>
            </a:r>
            <a:r>
              <a:rPr lang="pt-BR" sz="1200" dirty="0"/>
              <a:t>, " dólares.")</a:t>
            </a:r>
          </a:p>
          <a:p>
            <a:r>
              <a:rPr lang="pt-BR" sz="1200" dirty="0"/>
              <a:t>            }</a:t>
            </a:r>
          </a:p>
          <a:p>
            <a:r>
              <a:rPr lang="pt-BR" sz="1200" dirty="0"/>
              <a:t>}</a:t>
            </a:r>
            <a:endParaRPr lang="pt-BR" sz="1100" b="1" dirty="0">
              <a:latin typeface="Abadi" panose="020B0604020104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3E53C8-4095-4760-9CC7-3525CC1E9B72}"/>
              </a:ext>
            </a:extLst>
          </p:cNvPr>
          <p:cNvSpPr txBox="1"/>
          <p:nvPr/>
        </p:nvSpPr>
        <p:spPr>
          <a:xfrm>
            <a:off x="3820857" y="1299696"/>
            <a:ext cx="3449619" cy="46166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/>
              <a:t>2. Verificar maioridade</a:t>
            </a:r>
          </a:p>
          <a:p>
            <a:r>
              <a:rPr lang="pt-BR" sz="1400" dirty="0"/>
              <a:t>programa  </a:t>
            </a:r>
          </a:p>
          <a:p>
            <a:r>
              <a:rPr lang="pt" sz="1400" dirty="0"/>
              <a:t>{  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funcao</a:t>
            </a:r>
            <a:r>
              <a:rPr lang="pt-BR" sz="1400" dirty="0"/>
              <a:t> inicio()  </a:t>
            </a:r>
          </a:p>
          <a:p>
            <a:r>
              <a:rPr lang="pt" sz="1400" dirty="0"/>
              <a:t>    {  </a:t>
            </a:r>
          </a:p>
          <a:p>
            <a:r>
              <a:rPr lang="pt-BR" sz="1400" dirty="0"/>
              <a:t>        inteiro idade  </a:t>
            </a:r>
          </a:p>
          <a:p>
            <a:r>
              <a:rPr lang="pt" sz="1400" dirty="0"/>
              <a:t>      </a:t>
            </a:r>
          </a:p>
          <a:p>
            <a:r>
              <a:rPr lang="pt-BR" sz="1400" dirty="0"/>
              <a:t>        escreva("Digite a sua idade: ")  </a:t>
            </a:r>
          </a:p>
          <a:p>
            <a:r>
              <a:rPr lang="pt-BR" sz="1400" dirty="0"/>
              <a:t>        leia(idade)  </a:t>
            </a:r>
          </a:p>
          <a:p>
            <a:r>
              <a:rPr lang="pt" sz="1400" dirty="0"/>
              <a:t>        </a:t>
            </a:r>
          </a:p>
          <a:p>
            <a:r>
              <a:rPr lang="pt-BR" sz="1400" dirty="0"/>
              <a:t>        se (idade &gt;= 18)  </a:t>
            </a:r>
          </a:p>
          <a:p>
            <a:r>
              <a:rPr lang="pt" sz="1400" dirty="0"/>
              <a:t>        {  </a:t>
            </a:r>
          </a:p>
          <a:p>
            <a:r>
              <a:rPr lang="pt-BR" sz="1400" dirty="0"/>
              <a:t>            escreva("Você é maior de idade")  </a:t>
            </a:r>
          </a:p>
          <a:p>
            <a:r>
              <a:rPr lang="pt" sz="1400" dirty="0"/>
              <a:t>        }  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senao</a:t>
            </a:r>
            <a:r>
              <a:rPr lang="pt-BR" sz="1400" dirty="0"/>
              <a:t>  </a:t>
            </a:r>
          </a:p>
          <a:p>
            <a:r>
              <a:rPr lang="pt" sz="1400" dirty="0"/>
              <a:t>        {  </a:t>
            </a:r>
          </a:p>
          <a:p>
            <a:r>
              <a:rPr lang="pt-BR" sz="1400" dirty="0"/>
              <a:t>            escreva("Você é menor de idade")  </a:t>
            </a:r>
          </a:p>
          <a:p>
            <a:r>
              <a:rPr lang="pt" sz="1400" dirty="0"/>
              <a:t>        }  </a:t>
            </a:r>
          </a:p>
          <a:p>
            <a:r>
              <a:rPr lang="pt" sz="1400" dirty="0"/>
              <a:t>    }  </a:t>
            </a:r>
          </a:p>
          <a:p>
            <a:r>
              <a:rPr lang="pt" sz="1400" dirty="0"/>
              <a:t>}  </a:t>
            </a:r>
          </a:p>
          <a:p>
            <a:endParaRPr lang="pt-BR" sz="1400" b="1" dirty="0">
              <a:latin typeface="Abadi" panose="020B0604020104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9ECE3D-CEAD-4CC4-8E70-7D1FAE1E1457}"/>
              </a:ext>
            </a:extLst>
          </p:cNvPr>
          <p:cNvSpPr txBox="1"/>
          <p:nvPr/>
        </p:nvSpPr>
        <p:spPr>
          <a:xfrm>
            <a:off x="8049408" y="882022"/>
            <a:ext cx="3304391" cy="575542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1600" b="1" dirty="0">
              <a:latin typeface="Abadi" panose="020B0604020104020204" pitchFamily="34" charset="0"/>
            </a:endParaRPr>
          </a:p>
          <a:p>
            <a:r>
              <a:rPr lang="pt-BR" sz="1600" b="1" dirty="0">
                <a:latin typeface="Abadi" panose="020B0604020104020204" pitchFamily="34" charset="0"/>
              </a:rPr>
              <a:t>3. Contagem até um número escolhido pelo usuário</a:t>
            </a:r>
          </a:p>
          <a:p>
            <a:endParaRPr lang="pt-BR" sz="1600" b="1" dirty="0">
              <a:latin typeface="Abadi" panose="020B0604020104020204" pitchFamily="34" charset="0"/>
            </a:endParaRPr>
          </a:p>
          <a:p>
            <a:r>
              <a:rPr lang="pt-BR" sz="1600" b="1" dirty="0">
                <a:latin typeface="Abadi" panose="020B0604020104020204" pitchFamily="34" charset="0"/>
              </a:rPr>
              <a:t>programa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{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</a:t>
            </a:r>
            <a:r>
              <a:rPr lang="pt-BR" sz="1600" b="1" dirty="0" err="1">
                <a:latin typeface="Abadi" panose="020B0604020104020204" pitchFamily="34" charset="0"/>
              </a:rPr>
              <a:t>funcao</a:t>
            </a:r>
            <a:r>
              <a:rPr lang="pt-BR" sz="1600" b="1" dirty="0">
                <a:latin typeface="Abadi" panose="020B0604020104020204" pitchFamily="34" charset="0"/>
              </a:rPr>
              <a:t> inicio()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{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inteiro num, i = 1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escreva("Digite um valor: ")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leia(num)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enquanto (i &lt;= num)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{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    escreva(i, " ")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    i = i + 1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    }</a:t>
            </a:r>
          </a:p>
          <a:p>
            <a:endParaRPr lang="pt-BR" sz="1600" b="1" dirty="0">
              <a:latin typeface="Abadi" panose="020B0604020104020204" pitchFamily="34" charset="0"/>
            </a:endParaRPr>
          </a:p>
          <a:p>
            <a:r>
              <a:rPr lang="pt-BR" sz="1600" b="1" dirty="0">
                <a:latin typeface="Abadi" panose="020B0604020104020204" pitchFamily="34" charset="0"/>
              </a:rPr>
              <a:t>        escreva("Acabou!\n")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    }</a:t>
            </a:r>
          </a:p>
          <a:p>
            <a:r>
              <a:rPr lang="pt-BR" sz="1600" b="1" dirty="0">
                <a:latin typeface="Abadi" panose="020B0604020104020204" pitchFamily="34" charset="0"/>
              </a:rPr>
              <a:t>}</a:t>
            </a:r>
          </a:p>
          <a:p>
            <a:endParaRPr lang="pt-BR" sz="16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4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5EF58B3-3F7A-6FEF-1D73-C36E3FE90D50}"/>
              </a:ext>
            </a:extLst>
          </p:cNvPr>
          <p:cNvSpPr txBox="1"/>
          <p:nvPr/>
        </p:nvSpPr>
        <p:spPr>
          <a:xfrm>
            <a:off x="136188" y="848535"/>
            <a:ext cx="1114789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Na programação em Python, interagir com o usuário é fundamental, e isso geralmente envolve </a:t>
            </a:r>
            <a:r>
              <a:rPr lang="pt-BR" sz="3200" b="1" u="sng" dirty="0">
                <a:solidFill>
                  <a:srgbClr val="FF0000"/>
                </a:solidFill>
              </a:rPr>
              <a:t>ler dados do teclado e exibir informações na tela. </a:t>
            </a:r>
            <a:endParaRPr lang="pt-BR" sz="2800" b="1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3664FF-B489-39EF-64D8-74D62627D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370" y="2419817"/>
            <a:ext cx="5867290" cy="36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82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F0EF-7D1F-076D-0A60-F6199A88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04E26ED-E304-B480-0712-1044002D1EA4}"/>
              </a:ext>
            </a:extLst>
          </p:cNvPr>
          <p:cNvSpPr txBox="1"/>
          <p:nvPr/>
        </p:nvSpPr>
        <p:spPr>
          <a:xfrm>
            <a:off x="126460" y="0"/>
            <a:ext cx="1114789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Lendo Dados do Teclado em Python</a:t>
            </a:r>
          </a:p>
          <a:p>
            <a:endParaRPr lang="pt-BR" sz="2800" b="1" dirty="0"/>
          </a:p>
          <a:p>
            <a:pPr>
              <a:lnSpc>
                <a:spcPct val="200000"/>
              </a:lnSpc>
            </a:pPr>
            <a:r>
              <a:rPr lang="pt-BR" dirty="0"/>
              <a:t>Para obter entrada do usuário através do teclado em Python, utilizamos a </a:t>
            </a:r>
            <a:r>
              <a:rPr lang="pt-BR" sz="2800" dirty="0">
                <a:solidFill>
                  <a:srgbClr val="FF0000"/>
                </a:solidFill>
              </a:rPr>
              <a:t>função input(). </a:t>
            </a:r>
          </a:p>
          <a:p>
            <a:pPr>
              <a:lnSpc>
                <a:spcPct val="200000"/>
              </a:lnSpc>
            </a:pPr>
            <a:r>
              <a:rPr lang="pt-BR" dirty="0"/>
              <a:t>Esta função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dirty="0"/>
              <a:t>exibe uma mensagem para o usuário (opcionalmente) 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dirty="0"/>
              <a:t>aguarda que o usuário digite algo e pressione </a:t>
            </a:r>
            <a:r>
              <a:rPr lang="pt-BR" dirty="0" err="1"/>
              <a:t>Enter</a:t>
            </a:r>
            <a:r>
              <a:rPr lang="pt-BR" dirty="0"/>
              <a:t>.  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6BFF1C-C598-08E4-A40B-AA7A8BFFECF0}"/>
              </a:ext>
            </a:extLst>
          </p:cNvPr>
          <p:cNvSpPr txBox="1"/>
          <p:nvPr/>
        </p:nvSpPr>
        <p:spPr>
          <a:xfrm>
            <a:off x="357491" y="4431983"/>
            <a:ext cx="4652254" cy="20313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# Solicita o nome do usuário</a:t>
            </a:r>
          </a:p>
          <a:p>
            <a:r>
              <a:rPr lang="pt-BR" dirty="0"/>
              <a:t>nome = input("Qual é o seu nome? ")</a:t>
            </a:r>
          </a:p>
          <a:p>
            <a:endParaRPr lang="pt-BR" dirty="0"/>
          </a:p>
          <a:p>
            <a:r>
              <a:rPr lang="pt-BR" dirty="0"/>
              <a:t># Solicita a idade do usuário</a:t>
            </a:r>
          </a:p>
          <a:p>
            <a:r>
              <a:rPr lang="pt-BR" dirty="0"/>
              <a:t>idade = input("Qual é a sua idade? ")</a:t>
            </a:r>
          </a:p>
          <a:p>
            <a:endParaRPr lang="pt-BR" dirty="0"/>
          </a:p>
          <a:p>
            <a:r>
              <a:rPr lang="pt-BR" dirty="0"/>
              <a:t>print(</a:t>
            </a:r>
            <a:r>
              <a:rPr lang="pt-BR" dirty="0" err="1"/>
              <a:t>f"Olá</a:t>
            </a:r>
            <a:r>
              <a:rPr lang="pt-BR" dirty="0"/>
              <a:t>, {nome}! Você tem {idade} anos.")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374031-EB27-9C6B-D373-DC1A598A5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186" y="4431983"/>
            <a:ext cx="6719323" cy="194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03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E34FF5B-413D-80C2-58DE-5D872CC87E60}"/>
              </a:ext>
            </a:extLst>
          </p:cNvPr>
          <p:cNvSpPr txBox="1"/>
          <p:nvPr/>
        </p:nvSpPr>
        <p:spPr>
          <a:xfrm>
            <a:off x="498542" y="222301"/>
            <a:ext cx="5182411" cy="23083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# Solicita um número e o converte para </a:t>
            </a:r>
            <a:r>
              <a:rPr lang="pt-BR" b="1" u="sng" dirty="0">
                <a:solidFill>
                  <a:srgbClr val="FF0000"/>
                </a:solidFill>
              </a:rPr>
              <a:t>inteiro</a:t>
            </a:r>
          </a:p>
          <a:p>
            <a:r>
              <a:rPr lang="pt-BR" dirty="0"/>
              <a:t>numero1 = </a:t>
            </a:r>
            <a:r>
              <a:rPr lang="pt-BR" dirty="0" err="1"/>
              <a:t>int</a:t>
            </a:r>
            <a:r>
              <a:rPr lang="pt-BR" dirty="0"/>
              <a:t>(input("Digite o primeiro número: "))</a:t>
            </a:r>
          </a:p>
          <a:p>
            <a:endParaRPr lang="pt-BR" dirty="0"/>
          </a:p>
          <a:p>
            <a:r>
              <a:rPr lang="pt-BR" dirty="0"/>
              <a:t># Solicita outro número e o converte para </a:t>
            </a:r>
            <a:r>
              <a:rPr lang="pt-BR" b="1" dirty="0">
                <a:solidFill>
                  <a:srgbClr val="FF0000"/>
                </a:solidFill>
              </a:rPr>
              <a:t>inteiro</a:t>
            </a:r>
          </a:p>
          <a:p>
            <a:r>
              <a:rPr lang="pt-BR" dirty="0"/>
              <a:t>numero2 = </a:t>
            </a:r>
            <a:r>
              <a:rPr lang="pt-BR" dirty="0" err="1"/>
              <a:t>int</a:t>
            </a:r>
            <a:r>
              <a:rPr lang="pt-BR" dirty="0"/>
              <a:t>(input("Digite o segundo número: "))</a:t>
            </a:r>
          </a:p>
          <a:p>
            <a:endParaRPr lang="pt-BR" dirty="0"/>
          </a:p>
          <a:p>
            <a:r>
              <a:rPr lang="pt-BR" dirty="0"/>
              <a:t>soma = numero1 + numero2</a:t>
            </a:r>
          </a:p>
          <a:p>
            <a:r>
              <a:rPr lang="pt-BR" dirty="0"/>
              <a:t>print(</a:t>
            </a:r>
            <a:r>
              <a:rPr lang="pt-BR" dirty="0" err="1"/>
              <a:t>f"A</a:t>
            </a:r>
            <a:r>
              <a:rPr lang="pt-BR" dirty="0"/>
              <a:t> soma dos números é: {soma}")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A2B89A-14AB-D350-018F-394F0EA5D13B}"/>
              </a:ext>
            </a:extLst>
          </p:cNvPr>
          <p:cNvSpPr txBox="1"/>
          <p:nvPr/>
        </p:nvSpPr>
        <p:spPr>
          <a:xfrm>
            <a:off x="5819572" y="934413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o usuário digitar algo que não pode ser convertido para um inteiro, ocorrerá um erro.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AF8B25-E0FE-F448-DD6F-FD285BDE83B3}"/>
              </a:ext>
            </a:extLst>
          </p:cNvPr>
          <p:cNvSpPr txBox="1"/>
          <p:nvPr/>
        </p:nvSpPr>
        <p:spPr>
          <a:xfrm>
            <a:off x="391538" y="3537122"/>
            <a:ext cx="5785526" cy="26468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# A função input() lê a entrada do teclado como uma </a:t>
            </a:r>
            <a:r>
              <a:rPr lang="pt-BR" dirty="0" err="1"/>
              <a:t>string</a:t>
            </a:r>
            <a:r>
              <a:rPr lang="pt-BR" dirty="0"/>
              <a:t>.</a:t>
            </a:r>
          </a:p>
          <a:p>
            <a:r>
              <a:rPr lang="pt-BR" dirty="0" err="1"/>
              <a:t>entrada_string</a:t>
            </a:r>
            <a:r>
              <a:rPr lang="pt-BR" dirty="0"/>
              <a:t> = input("Digite sua altura (</a:t>
            </a:r>
            <a:r>
              <a:rPr lang="pt-BR" dirty="0" err="1"/>
              <a:t>ex</a:t>
            </a:r>
            <a:r>
              <a:rPr lang="pt-BR" dirty="0"/>
              <a:t>: 1.75): ")</a:t>
            </a:r>
          </a:p>
          <a:p>
            <a:endParaRPr lang="pt-BR" dirty="0"/>
          </a:p>
          <a:p>
            <a:r>
              <a:rPr lang="pt-BR" dirty="0"/>
              <a:t># Converte a </a:t>
            </a:r>
            <a:r>
              <a:rPr lang="pt-BR" dirty="0" err="1"/>
              <a:t>string</a:t>
            </a:r>
            <a:r>
              <a:rPr lang="pt-BR" dirty="0"/>
              <a:t> lida para o tipo de dado </a:t>
            </a:r>
            <a:r>
              <a:rPr lang="pt-BR" sz="2000" b="1" u="sng" dirty="0" err="1">
                <a:solidFill>
                  <a:srgbClr val="FF0000"/>
                </a:solidFill>
              </a:rPr>
              <a:t>float</a:t>
            </a:r>
            <a:r>
              <a:rPr lang="pt-BR" sz="2000" b="1" u="sng" dirty="0">
                <a:solidFill>
                  <a:srgbClr val="FF0000"/>
                </a:solidFill>
              </a:rPr>
              <a:t>.</a:t>
            </a:r>
            <a:endParaRPr lang="pt-BR" b="1" u="sng" dirty="0">
              <a:solidFill>
                <a:srgbClr val="FF0000"/>
              </a:solidFill>
            </a:endParaRPr>
          </a:p>
          <a:p>
            <a:r>
              <a:rPr lang="pt-BR" dirty="0" err="1"/>
              <a:t>altura_float</a:t>
            </a:r>
            <a:r>
              <a:rPr lang="pt-BR" dirty="0"/>
              <a:t> = </a:t>
            </a:r>
            <a:r>
              <a:rPr lang="pt-BR" dirty="0" err="1"/>
              <a:t>float</a:t>
            </a:r>
            <a:r>
              <a:rPr lang="pt-BR" dirty="0"/>
              <a:t>(</a:t>
            </a:r>
            <a:r>
              <a:rPr lang="pt-BR" dirty="0" err="1"/>
              <a:t>entrada_string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# Agora podemos usar a variável '</a:t>
            </a:r>
            <a:r>
              <a:rPr lang="pt-BR" dirty="0" err="1"/>
              <a:t>altura_</a:t>
            </a:r>
            <a:r>
              <a:rPr lang="pt-BR" sz="2000" b="1" dirty="0" err="1">
                <a:solidFill>
                  <a:srgbClr val="FF0000"/>
                </a:solidFill>
              </a:rPr>
              <a:t>float</a:t>
            </a:r>
            <a:r>
              <a:rPr lang="pt-BR" sz="2000" b="1" dirty="0">
                <a:solidFill>
                  <a:srgbClr val="FF0000"/>
                </a:solidFill>
              </a:rPr>
              <a:t>'</a:t>
            </a:r>
            <a:r>
              <a:rPr lang="pt-BR" dirty="0"/>
              <a:t> em cálculos.</a:t>
            </a:r>
          </a:p>
          <a:p>
            <a:r>
              <a:rPr lang="pt-BR" dirty="0"/>
              <a:t>print(</a:t>
            </a:r>
            <a:r>
              <a:rPr lang="pt-BR" dirty="0" err="1"/>
              <a:t>f"Sua</a:t>
            </a:r>
            <a:r>
              <a:rPr lang="pt-BR" dirty="0"/>
              <a:t> altura é {altura_float:.2f} metros.")</a:t>
            </a:r>
          </a:p>
          <a:p>
            <a:r>
              <a:rPr lang="pt-BR" dirty="0"/>
              <a:t>print(</a:t>
            </a:r>
            <a:r>
              <a:rPr lang="pt-BR" dirty="0" err="1"/>
              <a:t>f"O</a:t>
            </a:r>
            <a:r>
              <a:rPr lang="pt-BR" dirty="0"/>
              <a:t> tipo da variável agora é: {</a:t>
            </a:r>
            <a:r>
              <a:rPr lang="pt-BR" dirty="0" err="1"/>
              <a:t>type</a:t>
            </a:r>
            <a:r>
              <a:rPr lang="pt-BR" dirty="0"/>
              <a:t>(</a:t>
            </a:r>
            <a:r>
              <a:rPr lang="pt-BR" dirty="0" err="1"/>
              <a:t>altura_float</a:t>
            </a:r>
            <a:r>
              <a:rPr lang="pt-BR" dirty="0"/>
              <a:t>)}")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B1793E-EA49-E4CE-04C5-27FD2800EF91}"/>
              </a:ext>
            </a:extLst>
          </p:cNvPr>
          <p:cNvSpPr txBox="1"/>
          <p:nvPr/>
        </p:nvSpPr>
        <p:spPr>
          <a:xfrm>
            <a:off x="6177064" y="3777522"/>
            <a:ext cx="60943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O input() lê "1.75" como uma </a:t>
            </a:r>
            <a:r>
              <a:rPr lang="pt-BR" sz="1600" dirty="0" err="1">
                <a:latin typeface="Abadi" panose="020B0604020104020204" pitchFamily="34" charset="0"/>
              </a:rPr>
              <a:t>string</a:t>
            </a:r>
            <a:r>
              <a:rPr lang="pt-BR" sz="1600" dirty="0">
                <a:latin typeface="Abadi" panose="020B0604020104020204" pitchFamily="34" charset="0"/>
              </a:rPr>
              <a:t> ("1.75").</a:t>
            </a:r>
          </a:p>
          <a:p>
            <a:pPr>
              <a:buFont typeface="+mj-lt"/>
              <a:buAutoNum type="arabicPeriod"/>
            </a:pPr>
            <a:endParaRPr lang="pt-BR" sz="1600" dirty="0">
              <a:latin typeface="Abadi" panose="020B0604020104020204" pitchFamily="34" charset="0"/>
            </a:endParaRPr>
          </a:p>
          <a:p>
            <a:pPr>
              <a:buFont typeface="+mj-lt"/>
              <a:buAutoNum type="arabicPeriod"/>
            </a:pPr>
            <a:r>
              <a:rPr lang="pt-BR" sz="1600" dirty="0">
                <a:latin typeface="Abadi" panose="020B0604020104020204" pitchFamily="34" charset="0"/>
              </a:rPr>
              <a:t>A função </a:t>
            </a:r>
            <a:r>
              <a:rPr lang="pt-BR" sz="1600" dirty="0" err="1">
                <a:latin typeface="Abadi" panose="020B0604020104020204" pitchFamily="34" charset="0"/>
              </a:rPr>
              <a:t>float</a:t>
            </a:r>
            <a:r>
              <a:rPr lang="pt-BR" sz="1600" dirty="0">
                <a:latin typeface="Abadi" panose="020B0604020104020204" pitchFamily="34" charset="0"/>
              </a:rPr>
              <a:t>() pega essa </a:t>
            </a:r>
            <a:r>
              <a:rPr lang="pt-BR" sz="1600" dirty="0" err="1">
                <a:latin typeface="Abadi" panose="020B0604020104020204" pitchFamily="34" charset="0"/>
              </a:rPr>
              <a:t>string</a:t>
            </a:r>
            <a:r>
              <a:rPr lang="pt-BR" sz="1600" dirty="0">
                <a:latin typeface="Abadi" panose="020B0604020104020204" pitchFamily="34" charset="0"/>
              </a:rPr>
              <a:t> e a transforma no número de ponto flutuante 1.75.</a:t>
            </a:r>
          </a:p>
          <a:p>
            <a:pPr>
              <a:buFont typeface="+mj-lt"/>
              <a:buAutoNum type="arabicPeriod"/>
            </a:pPr>
            <a:endParaRPr lang="pt-BR" sz="1600" dirty="0">
              <a:latin typeface="Abadi" panose="020B0604020104020204" pitchFamily="34" charset="0"/>
            </a:endParaRPr>
          </a:p>
          <a:p>
            <a:pPr>
              <a:buFont typeface="+mj-lt"/>
              <a:buAutoNum type="arabicPeriod"/>
            </a:pPr>
            <a:r>
              <a:rPr lang="pt-BR" sz="1600" b="1" dirty="0" err="1">
                <a:solidFill>
                  <a:srgbClr val="FF0000"/>
                </a:solidFill>
                <a:latin typeface="Abadi" panose="020B0604020104020204" pitchFamily="34" charset="0"/>
              </a:rPr>
              <a:t>type</a:t>
            </a:r>
            <a:r>
              <a:rPr lang="pt-BR" sz="1600" b="1" dirty="0">
                <a:solidFill>
                  <a:srgbClr val="FF0000"/>
                </a:solidFill>
                <a:latin typeface="Abadi" panose="020B0604020104020204" pitchFamily="34" charset="0"/>
              </a:rPr>
              <a:t>() </a:t>
            </a:r>
            <a:r>
              <a:rPr lang="pt-BR" sz="1600" dirty="0">
                <a:latin typeface="Abadi" panose="020B0604020104020204" pitchFamily="34" charset="0"/>
              </a:rPr>
              <a:t>confirma que a variável agora é do tipo &lt;</a:t>
            </a:r>
            <a:r>
              <a:rPr lang="pt-BR" sz="1600" dirty="0" err="1">
                <a:latin typeface="Abadi" panose="020B0604020104020204" pitchFamily="34" charset="0"/>
              </a:rPr>
              <a:t>class</a:t>
            </a:r>
            <a:r>
              <a:rPr lang="pt-BR" sz="1600" dirty="0">
                <a:latin typeface="Abadi" panose="020B0604020104020204" pitchFamily="34" charset="0"/>
              </a:rPr>
              <a:t> '</a:t>
            </a:r>
            <a:r>
              <a:rPr lang="pt-BR" sz="1600" dirty="0" err="1">
                <a:latin typeface="Abadi" panose="020B0604020104020204" pitchFamily="34" charset="0"/>
              </a:rPr>
              <a:t>float</a:t>
            </a:r>
            <a:r>
              <a:rPr lang="pt-BR" sz="1600" dirty="0">
                <a:latin typeface="Abadi" panose="020B0604020104020204" pitchFamily="34" charset="0"/>
              </a:rPr>
              <a:t>'&gt;.</a:t>
            </a:r>
          </a:p>
        </p:txBody>
      </p:sp>
    </p:spTree>
    <p:extLst>
      <p:ext uri="{BB962C8B-B14F-4D97-AF65-F5344CB8AC3E}">
        <p14:creationId xmlns:p14="http://schemas.microsoft.com/office/powerpoint/2010/main" val="1216870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41196" y="1543819"/>
            <a:ext cx="5680226" cy="4154984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  <a:latin typeface="Calibri" panose="020F0502020204030204" pitchFamily="34" charset="0"/>
              </a:rPr>
              <a:t>Leitura de uma </a:t>
            </a:r>
            <a:r>
              <a:rPr lang="pt-BR" sz="2800" dirty="0" err="1">
                <a:solidFill>
                  <a:srgbClr val="FF0000"/>
                </a:solidFill>
                <a:latin typeface="Calibri" panose="020F0502020204030204" pitchFamily="34" charset="0"/>
              </a:rPr>
              <a:t>string</a:t>
            </a:r>
            <a:r>
              <a:rPr lang="pt-BR" sz="2800" dirty="0">
                <a:solidFill>
                  <a:srgbClr val="FF0000"/>
                </a:solidFill>
                <a:latin typeface="Calibri" panose="020F0502020204030204" pitchFamily="34" charset="0"/>
              </a:rPr>
              <a:t>:</a:t>
            </a:r>
          </a:p>
          <a:p>
            <a:pPr marL="447675" lvl="2"/>
            <a:r>
              <a:rPr lang="pt-BR" b="1" dirty="0">
                <a:highlight>
                  <a:srgbClr val="FFFF00"/>
                </a:highlight>
                <a:latin typeface="Calibri" panose="020F0502020204030204" pitchFamily="34" charset="0"/>
              </a:rPr>
              <a:t>nome = input("Digite seu nome: ")</a:t>
            </a:r>
          </a:p>
          <a:p>
            <a:pPr marL="447675" lvl="2"/>
            <a:r>
              <a:rPr lang="pt-BR" b="1" dirty="0" err="1">
                <a:highlight>
                  <a:srgbClr val="FFFF00"/>
                </a:highlight>
                <a:latin typeface="Calibri" panose="020F0502020204030204" pitchFamily="34" charset="0"/>
              </a:rPr>
              <a:t>print</a:t>
            </a:r>
            <a:r>
              <a:rPr lang="pt-BR" b="1" dirty="0">
                <a:highlight>
                  <a:srgbClr val="FFFF00"/>
                </a:highlight>
                <a:latin typeface="Calibri" panose="020F0502020204030204" pitchFamily="34" charset="0"/>
              </a:rPr>
              <a:t>("Olá, " + nome)</a:t>
            </a:r>
          </a:p>
          <a:p>
            <a:endParaRPr lang="pt-BR" dirty="0">
              <a:latin typeface="Calibri" panose="020F0502020204030204" pitchFamily="34" charset="0"/>
            </a:endParaRPr>
          </a:p>
          <a:p>
            <a:r>
              <a:rPr lang="pt-BR" sz="2800" dirty="0">
                <a:solidFill>
                  <a:srgbClr val="FF0000"/>
                </a:solidFill>
                <a:latin typeface="Calibri" panose="020F0502020204030204" pitchFamily="34" charset="0"/>
              </a:rPr>
              <a:t>Leitura de um número inteiro:</a:t>
            </a:r>
          </a:p>
          <a:p>
            <a:pPr marL="447675" lvl="2"/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idade = </a:t>
            </a:r>
            <a:r>
              <a:rPr lang="pt-BR" dirty="0" err="1">
                <a:highlight>
                  <a:srgbClr val="FFFF00"/>
                </a:highlight>
                <a:latin typeface="Calibri" panose="020F0502020204030204" pitchFamily="34" charset="0"/>
              </a:rPr>
              <a:t>int</a:t>
            </a:r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(input("Digite sua idade: "))</a:t>
            </a:r>
          </a:p>
          <a:p>
            <a:pPr marL="447675" lvl="2"/>
            <a:r>
              <a:rPr lang="pt-BR" dirty="0" err="1">
                <a:highlight>
                  <a:srgbClr val="FFFF00"/>
                </a:highlight>
                <a:latin typeface="Calibri" panose="020F0502020204030204" pitchFamily="34" charset="0"/>
              </a:rPr>
              <a:t>ano_nascimento</a:t>
            </a:r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 = 2023 - idade</a:t>
            </a:r>
          </a:p>
          <a:p>
            <a:pPr marL="447675" lvl="2"/>
            <a:r>
              <a:rPr lang="pt-BR" dirty="0" err="1">
                <a:highlight>
                  <a:srgbClr val="FFFF00"/>
                </a:highlight>
                <a:latin typeface="Calibri" panose="020F0502020204030204" pitchFamily="34" charset="0"/>
              </a:rPr>
              <a:t>print</a:t>
            </a:r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("Você nasceu em", </a:t>
            </a:r>
            <a:r>
              <a:rPr lang="pt-BR" dirty="0" err="1">
                <a:highlight>
                  <a:srgbClr val="FFFF00"/>
                </a:highlight>
                <a:latin typeface="Calibri" panose="020F0502020204030204" pitchFamily="34" charset="0"/>
              </a:rPr>
              <a:t>ano_nascimento</a:t>
            </a:r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)</a:t>
            </a:r>
          </a:p>
          <a:p>
            <a:endParaRPr lang="pt-BR" dirty="0">
              <a:latin typeface="Calibri" panose="020F0502020204030204" pitchFamily="34" charset="0"/>
            </a:endParaRPr>
          </a:p>
          <a:p>
            <a:r>
              <a:rPr lang="pt-BR" sz="2800" dirty="0">
                <a:solidFill>
                  <a:srgbClr val="FF0000"/>
                </a:solidFill>
                <a:latin typeface="Calibri" panose="020F0502020204030204" pitchFamily="34" charset="0"/>
              </a:rPr>
              <a:t>Leitura de um número decimal (</a:t>
            </a:r>
            <a:r>
              <a:rPr lang="pt-BR" sz="2800" dirty="0" err="1">
                <a:solidFill>
                  <a:srgbClr val="FF0000"/>
                </a:solidFill>
                <a:latin typeface="Calibri" panose="020F0502020204030204" pitchFamily="34" charset="0"/>
              </a:rPr>
              <a:t>float</a:t>
            </a:r>
            <a:r>
              <a:rPr lang="pt-BR" sz="2800" dirty="0">
                <a:solidFill>
                  <a:srgbClr val="FF0000"/>
                </a:solidFill>
                <a:latin typeface="Calibri" panose="020F0502020204030204" pitchFamily="34" charset="0"/>
              </a:rPr>
              <a:t>):</a:t>
            </a:r>
          </a:p>
          <a:p>
            <a:pPr marL="447675" lvl="2"/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altura = </a:t>
            </a:r>
            <a:r>
              <a:rPr lang="pt-BR" dirty="0" err="1">
                <a:highlight>
                  <a:srgbClr val="FFFF00"/>
                </a:highlight>
                <a:latin typeface="Calibri" panose="020F0502020204030204" pitchFamily="34" charset="0"/>
              </a:rPr>
              <a:t>float</a:t>
            </a:r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(input("Digite sua altura em metros: "))</a:t>
            </a:r>
          </a:p>
          <a:p>
            <a:pPr marL="447675" lvl="2"/>
            <a:r>
              <a:rPr lang="pt-BR" dirty="0" err="1">
                <a:highlight>
                  <a:srgbClr val="FFFF00"/>
                </a:highlight>
                <a:latin typeface="Calibri" panose="020F0502020204030204" pitchFamily="34" charset="0"/>
              </a:rPr>
              <a:t>print</a:t>
            </a:r>
            <a:r>
              <a:rPr lang="pt-BR" dirty="0">
                <a:highlight>
                  <a:srgbClr val="FFFF00"/>
                </a:highlight>
                <a:latin typeface="Calibri" panose="020F0502020204030204" pitchFamily="34" charset="0"/>
              </a:rPr>
              <a:t>("Sua altura é", altura, "metros")</a:t>
            </a:r>
          </a:p>
          <a:p>
            <a:endParaRPr lang="pt-BR" dirty="0">
              <a:latin typeface="Calibri" panose="020F050202020403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41195" y="172194"/>
            <a:ext cx="302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EXEMPLOS: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C27B999-7D41-4DBA-A8B5-2CC9D252A75A}"/>
              </a:ext>
            </a:extLst>
          </p:cNvPr>
          <p:cNvSpPr/>
          <p:nvPr/>
        </p:nvSpPr>
        <p:spPr>
          <a:xfrm>
            <a:off x="6390057" y="281935"/>
            <a:ext cx="5460747" cy="6247864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Leitura de uma linha de texto </a:t>
            </a:r>
          </a:p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 impressão:</a:t>
            </a:r>
          </a:p>
          <a:p>
            <a:r>
              <a:rPr lang="pt-BR" b="1" i="0" dirty="0">
                <a:effectLst/>
                <a:highlight>
                  <a:srgbClr val="FFFF00"/>
                </a:highlight>
                <a:latin typeface="Söhne Mono"/>
              </a:rPr>
              <a:t>#importando uma biblioteca com a função </a:t>
            </a:r>
            <a:r>
              <a:rPr lang="pt-BR" b="1" i="0" dirty="0" err="1">
                <a:effectLst/>
                <a:highlight>
                  <a:srgbClr val="FFFF00"/>
                </a:highlight>
                <a:latin typeface="Söhne Mono"/>
              </a:rPr>
              <a:t>stdin</a:t>
            </a:r>
            <a:endParaRPr lang="pt-BR" b="1" i="0" dirty="0">
              <a:effectLst/>
              <a:highlight>
                <a:srgbClr val="FFFF00"/>
              </a:highlight>
              <a:latin typeface="Söhne Mono"/>
            </a:endParaRPr>
          </a:p>
          <a:p>
            <a:r>
              <a:rPr lang="pt-BR" b="0" i="0" dirty="0" err="1">
                <a:effectLst/>
                <a:highlight>
                  <a:srgbClr val="FFFF00"/>
                </a:highlight>
                <a:latin typeface="Söhne Mono"/>
              </a:rPr>
              <a:t>import</a:t>
            </a:r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 sys </a:t>
            </a:r>
          </a:p>
          <a:p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# Lendo uma linha de texto usando </a:t>
            </a:r>
            <a:r>
              <a:rPr lang="pt-BR" b="0" i="0" dirty="0" err="1">
                <a:effectLst/>
                <a:highlight>
                  <a:srgbClr val="FFFF00"/>
                </a:highlight>
                <a:latin typeface="Söhne Mono"/>
              </a:rPr>
              <a:t>sys.stdin.readline</a:t>
            </a:r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() </a:t>
            </a:r>
          </a:p>
          <a:p>
            <a:r>
              <a:rPr lang="pt-BR" dirty="0">
                <a:highlight>
                  <a:srgbClr val="FFFF00"/>
                </a:highlight>
                <a:latin typeface="Söhne Mono"/>
              </a:rPr>
              <a:t>#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highlight>
                  <a:srgbClr val="FFFF00"/>
                </a:highlight>
                <a:latin typeface="Google Sans"/>
              </a:rPr>
              <a:t>A função </a:t>
            </a:r>
            <a:r>
              <a:rPr lang="pt-BR" altLang="pt-BR" b="1" dirty="0" err="1">
                <a:solidFill>
                  <a:srgbClr val="001D35"/>
                </a:solidFill>
                <a:highlight>
                  <a:srgbClr val="FFFF00"/>
                </a:highlight>
                <a:latin typeface="Google Sans"/>
              </a:rPr>
              <a:t>stdin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highlight>
                  <a:srgbClr val="FFFF00"/>
                </a:highlight>
                <a:latin typeface="Google Sans"/>
              </a:rPr>
              <a:t> da biblioteca sys do Python permite ler # a entrada diretamente, linha a linha, </a:t>
            </a:r>
            <a:endParaRPr lang="pt-BR" b="1" i="0" dirty="0">
              <a:effectLst/>
              <a:highlight>
                <a:srgbClr val="FFFF00"/>
              </a:highlight>
              <a:latin typeface="Söhne Mono"/>
            </a:endParaRPr>
          </a:p>
          <a:p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linha = </a:t>
            </a:r>
            <a:r>
              <a:rPr lang="pt-BR" b="0" i="0" dirty="0" err="1">
                <a:effectLst/>
                <a:highlight>
                  <a:srgbClr val="FFFF00"/>
                </a:highlight>
                <a:latin typeface="Söhne Mono"/>
              </a:rPr>
              <a:t>sys.stdin.readline</a:t>
            </a:r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().strip() </a:t>
            </a:r>
          </a:p>
          <a:p>
            <a:r>
              <a:rPr lang="pt-BR" b="1" dirty="0">
                <a:highlight>
                  <a:srgbClr val="FFFF00"/>
                </a:highlight>
                <a:latin typeface="Söhne Mono"/>
              </a:rPr>
              <a:t># parâmetro </a:t>
            </a:r>
            <a:r>
              <a:rPr lang="pt-BR" b="1" dirty="0" err="1">
                <a:highlight>
                  <a:srgbClr val="FFFF00"/>
                </a:highlight>
                <a:latin typeface="Söhne Mono"/>
              </a:rPr>
              <a:t>stip</a:t>
            </a:r>
            <a:r>
              <a:rPr lang="pt-BR" b="1" dirty="0">
                <a:highlight>
                  <a:srgbClr val="FFFF00"/>
                </a:highlight>
                <a:latin typeface="Söhne Mono"/>
              </a:rPr>
              <a:t> remove espaços em brancos no inicio r #  final da </a:t>
            </a:r>
            <a:r>
              <a:rPr lang="pt-BR" b="1" dirty="0" err="1">
                <a:highlight>
                  <a:srgbClr val="FFFF00"/>
                </a:highlight>
                <a:latin typeface="Söhne Mono"/>
              </a:rPr>
              <a:t>string</a:t>
            </a:r>
            <a:endParaRPr lang="pt-BR" b="1" i="0" dirty="0">
              <a:effectLst/>
              <a:highlight>
                <a:srgbClr val="FFFF00"/>
              </a:highlight>
              <a:latin typeface="Söhne Mono"/>
            </a:endParaRPr>
          </a:p>
          <a:p>
            <a:r>
              <a:rPr lang="pt-BR" b="1" i="0" dirty="0">
                <a:effectLst/>
                <a:highlight>
                  <a:srgbClr val="FFFF00"/>
                </a:highlight>
                <a:latin typeface="Söhne Mono"/>
              </a:rPr>
              <a:t># Imprimindo a linha lida </a:t>
            </a:r>
          </a:p>
          <a:p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print("Linha lida:", linha)</a:t>
            </a:r>
            <a:endParaRPr lang="pt" dirty="0"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endParaRPr lang="pt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Leitura de um número inteiro </a:t>
            </a:r>
          </a:p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 impressão:</a:t>
            </a:r>
          </a:p>
          <a:p>
            <a:r>
              <a:rPr lang="pt-BR" b="0" i="0" dirty="0" err="1">
                <a:effectLst/>
                <a:highlight>
                  <a:srgbClr val="FFFF00"/>
                </a:highlight>
                <a:latin typeface="Söhne Mono"/>
              </a:rPr>
              <a:t>import</a:t>
            </a:r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 sys </a:t>
            </a:r>
          </a:p>
          <a:p>
            <a:r>
              <a:rPr lang="pt-BR" b="1" i="0" dirty="0">
                <a:effectLst/>
                <a:highlight>
                  <a:srgbClr val="FFFF00"/>
                </a:highlight>
                <a:latin typeface="Söhne Mono"/>
              </a:rPr>
              <a:t># Lendo um número inteiro usando </a:t>
            </a:r>
          </a:p>
          <a:p>
            <a:r>
              <a:rPr lang="pt-BR" b="0" i="0" dirty="0" err="1">
                <a:effectLst/>
                <a:highlight>
                  <a:srgbClr val="FFFF00"/>
                </a:highlight>
                <a:latin typeface="Söhne Mono"/>
              </a:rPr>
              <a:t>sys.stdin.readline</a:t>
            </a:r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() numero = </a:t>
            </a:r>
            <a:r>
              <a:rPr lang="pt-BR" b="0" i="0" dirty="0" err="1">
                <a:effectLst/>
                <a:highlight>
                  <a:srgbClr val="FFFF00"/>
                </a:highlight>
                <a:latin typeface="Söhne Mono"/>
              </a:rPr>
              <a:t>int</a:t>
            </a:r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(</a:t>
            </a:r>
            <a:r>
              <a:rPr lang="pt-BR" b="0" i="0" dirty="0" err="1">
                <a:effectLst/>
                <a:highlight>
                  <a:srgbClr val="FFFF00"/>
                </a:highlight>
                <a:latin typeface="Söhne Mono"/>
              </a:rPr>
              <a:t>sys.stdin.readline</a:t>
            </a:r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()) </a:t>
            </a:r>
          </a:p>
          <a:p>
            <a:r>
              <a:rPr lang="pt-BR" b="1" i="0" dirty="0">
                <a:effectLst/>
                <a:highlight>
                  <a:srgbClr val="FFFF00"/>
                </a:highlight>
                <a:latin typeface="Söhne Mono"/>
              </a:rPr>
              <a:t># Imprimindo o número lido </a:t>
            </a:r>
          </a:p>
          <a:p>
            <a:r>
              <a:rPr lang="pt-BR" b="0" i="0" dirty="0">
                <a:effectLst/>
                <a:highlight>
                  <a:srgbClr val="FFFF00"/>
                </a:highlight>
                <a:latin typeface="Söhne Mono"/>
              </a:rPr>
              <a:t>print("Número lido:", numero)</a:t>
            </a:r>
            <a:endParaRPr lang="pt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34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7942D5A-A83D-AC1D-28C1-D810D5D62298}"/>
              </a:ext>
            </a:extLst>
          </p:cNvPr>
          <p:cNvSpPr txBox="1"/>
          <p:nvPr/>
        </p:nvSpPr>
        <p:spPr>
          <a:xfrm>
            <a:off x="965469" y="285292"/>
            <a:ext cx="110190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600" b="1" dirty="0">
                <a:solidFill>
                  <a:srgbClr val="FF0000"/>
                </a:solidFill>
              </a:rPr>
              <a:t>Escrevendo Dados na Tela em Python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Para exibir informações na tela, usamos a função </a:t>
            </a:r>
            <a:r>
              <a:rPr lang="pt-BR" dirty="0">
                <a:latin typeface="Courier New" panose="02070309020205020404" pitchFamily="49" charset="0"/>
              </a:rPr>
              <a:t>print()</a:t>
            </a:r>
            <a:r>
              <a:rPr lang="pt-BR" dirty="0"/>
              <a:t>. </a:t>
            </a:r>
          </a:p>
          <a:p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8A3E7-3459-C559-06D7-6BF521A5FDDB}"/>
              </a:ext>
            </a:extLst>
          </p:cNvPr>
          <p:cNvSpPr txBox="1"/>
          <p:nvPr/>
        </p:nvSpPr>
        <p:spPr>
          <a:xfrm>
            <a:off x="4811540" y="1808786"/>
            <a:ext cx="6012911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print("Olá, mundo!")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7E3FB3D-11E6-8FB8-A366-0066880FC3D4}"/>
              </a:ext>
            </a:extLst>
          </p:cNvPr>
          <p:cNvSpPr txBox="1"/>
          <p:nvPr/>
        </p:nvSpPr>
        <p:spPr>
          <a:xfrm>
            <a:off x="1000731" y="257312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Variáveis: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B8D58C4-DC91-9492-2E3E-CC394BDF831D}"/>
              </a:ext>
            </a:extLst>
          </p:cNvPr>
          <p:cNvSpPr txBox="1"/>
          <p:nvPr/>
        </p:nvSpPr>
        <p:spPr>
          <a:xfrm>
            <a:off x="4730073" y="2619292"/>
            <a:ext cx="6175845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mensagem = "Bem-vindo ao Python!"</a:t>
            </a:r>
          </a:p>
          <a:p>
            <a:r>
              <a:rPr lang="pt-BR" dirty="0"/>
              <a:t>print(mensagem)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09A0F2-0255-2863-577F-5B30FF85CF45}"/>
              </a:ext>
            </a:extLst>
          </p:cNvPr>
          <p:cNvSpPr txBox="1"/>
          <p:nvPr/>
        </p:nvSpPr>
        <p:spPr>
          <a:xfrm>
            <a:off x="965469" y="3915543"/>
            <a:ext cx="2478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Múltiplos itens </a:t>
            </a:r>
          </a:p>
          <a:p>
            <a:r>
              <a:rPr lang="pt-BR" dirty="0"/>
              <a:t>(separados por vírgula):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2DB8DA7-75F2-7EC6-86B8-6F1F449CC6FF}"/>
              </a:ext>
            </a:extLst>
          </p:cNvPr>
          <p:cNvSpPr txBox="1"/>
          <p:nvPr/>
        </p:nvSpPr>
        <p:spPr>
          <a:xfrm>
            <a:off x="4730074" y="3944249"/>
            <a:ext cx="6094378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nome = "Ana"</a:t>
            </a:r>
          </a:p>
          <a:p>
            <a:r>
              <a:rPr lang="pt-BR" dirty="0"/>
              <a:t>idade = 30</a:t>
            </a:r>
          </a:p>
          <a:p>
            <a:r>
              <a:rPr lang="pt-BR" dirty="0"/>
              <a:t>print("Meu nome é", nome, "e eu tenho", idade, "anos.")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51E1F68-0487-58D8-75DC-ACF500ECE5A1}"/>
              </a:ext>
            </a:extLst>
          </p:cNvPr>
          <p:cNvSpPr txBox="1"/>
          <p:nvPr/>
        </p:nvSpPr>
        <p:spPr>
          <a:xfrm>
            <a:off x="1000731" y="1762620"/>
            <a:ext cx="1913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Strings</a:t>
            </a:r>
            <a:r>
              <a:rPr lang="pt-BR" b="1" dirty="0">
                <a:solidFill>
                  <a:srgbClr val="FF0000"/>
                </a:solidFill>
              </a:rPr>
              <a:t> literais: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3D9E6F9-2009-C209-A94B-FC283F41C332}"/>
              </a:ext>
            </a:extLst>
          </p:cNvPr>
          <p:cNvSpPr txBox="1"/>
          <p:nvPr/>
        </p:nvSpPr>
        <p:spPr>
          <a:xfrm>
            <a:off x="965469" y="5534959"/>
            <a:ext cx="2966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f-</a:t>
            </a:r>
            <a:r>
              <a:rPr lang="pt-BR" b="1" dirty="0" err="1">
                <a:solidFill>
                  <a:srgbClr val="FF0000"/>
                </a:solidFill>
              </a:rPr>
              <a:t>strings</a:t>
            </a:r>
            <a:r>
              <a:rPr lang="pt-BR" b="1" dirty="0">
                <a:solidFill>
                  <a:srgbClr val="FF0000"/>
                </a:solidFill>
              </a:rPr>
              <a:t> (</a:t>
            </a:r>
            <a:r>
              <a:rPr lang="pt-BR" b="1" dirty="0" err="1">
                <a:solidFill>
                  <a:srgbClr val="FF0000"/>
                </a:solidFill>
              </a:rPr>
              <a:t>strings</a:t>
            </a:r>
            <a:r>
              <a:rPr lang="pt-BR" b="1" dirty="0">
                <a:solidFill>
                  <a:srgbClr val="FF0000"/>
                </a:solidFill>
              </a:rPr>
              <a:t> formatadas)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A837586-A4B5-3534-191D-991BB0FCF240}"/>
              </a:ext>
            </a:extLst>
          </p:cNvPr>
          <p:cNvSpPr txBox="1"/>
          <p:nvPr/>
        </p:nvSpPr>
        <p:spPr>
          <a:xfrm>
            <a:off x="4811541" y="5447252"/>
            <a:ext cx="6094378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produto = "Lápis"</a:t>
            </a:r>
          </a:p>
          <a:p>
            <a:r>
              <a:rPr lang="pt-BR" dirty="0" err="1"/>
              <a:t>preco</a:t>
            </a:r>
            <a:r>
              <a:rPr lang="pt-BR" dirty="0"/>
              <a:t> = 2.50</a:t>
            </a:r>
          </a:p>
          <a:p>
            <a:r>
              <a:rPr lang="pt-BR" dirty="0"/>
              <a:t>print(</a:t>
            </a:r>
            <a:r>
              <a:rPr lang="pt-BR" dirty="0" err="1"/>
              <a:t>f"O</a:t>
            </a:r>
            <a:r>
              <a:rPr lang="pt-BR" dirty="0"/>
              <a:t> produto é {produto} e custa R${preco:.2f}.")</a:t>
            </a:r>
          </a:p>
        </p:txBody>
      </p:sp>
    </p:spTree>
    <p:extLst>
      <p:ext uri="{BB962C8B-B14F-4D97-AF65-F5344CB8AC3E}">
        <p14:creationId xmlns:p14="http://schemas.microsoft.com/office/powerpoint/2010/main" val="2622398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513004"/>
              </p:ext>
            </p:extLst>
          </p:nvPr>
        </p:nvGraphicFramePr>
        <p:xfrm>
          <a:off x="1881874" y="542245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012338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208086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47802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6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0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30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63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53406"/>
                  </a:ext>
                </a:extLst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88396"/>
              </p:ext>
            </p:extLst>
          </p:nvPr>
        </p:nvGraphicFramePr>
        <p:xfrm>
          <a:off x="89169" y="746526"/>
          <a:ext cx="12013661" cy="58826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81674">
                  <a:extLst>
                    <a:ext uri="{9D8B030D-6E8A-4147-A177-3AD203B41FA5}">
                      <a16:colId xmlns:a16="http://schemas.microsoft.com/office/drawing/2014/main" val="1453723858"/>
                    </a:ext>
                  </a:extLst>
                </a:gridCol>
                <a:gridCol w="4631987">
                  <a:extLst>
                    <a:ext uri="{9D8B030D-6E8A-4147-A177-3AD203B41FA5}">
                      <a16:colId xmlns:a16="http://schemas.microsoft.com/office/drawing/2014/main" val="1829202259"/>
                    </a:ext>
                  </a:extLst>
                </a:gridCol>
              </a:tblGrid>
              <a:tr h="317529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Comando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Exemplo</a:t>
                      </a:r>
                      <a:r>
                        <a:rPr lang="pt-BR" sz="1800" b="1" baseline="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Python</a:t>
                      </a:r>
                      <a:endParaRPr lang="pt-BR" sz="1800" b="1" dirty="0">
                        <a:solidFill>
                          <a:srgbClr val="FF0000"/>
                        </a:solidFill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615925"/>
                  </a:ext>
                </a:extLst>
              </a:tr>
              <a:tr h="669825">
                <a:tc>
                  <a:txBody>
                    <a:bodyPr/>
                    <a:lstStyle/>
                    <a:p>
                      <a:pPr algn="just"/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A sintaxe da função </a:t>
                      </a:r>
                      <a:r>
                        <a:rPr lang="pt-BR" sz="1600" b="1" i="0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b="0" i="0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()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 é bem simples, basta informar entre parênteses o que se deseja imprimir na tela do terminal : </a:t>
                      </a:r>
                      <a:r>
                        <a:rPr lang="pt-BR" sz="1600" b="1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print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pt-BR" sz="16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objeto(s), parâmetro(s)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just"/>
                      <a:endParaRPr lang="pt-BR" sz="1600" b="1" i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pt-BR" sz="1600" b="1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objeto(s)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pt-BR" sz="1600" b="0" i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strings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de texto e variáveis. </a:t>
                      </a:r>
                    </a:p>
                    <a:p>
                      <a:pPr algn="just"/>
                      <a:endParaRPr lang="pt-BR" sz="1600" b="0" i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pt-BR" sz="1600" b="1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parâmetro(s)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: definem como objetos são separados, se haverá quebra de linha, etc.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- print(“Olá Pessoal”)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pt-BR" sz="1600" b="1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- texto = "Olá Pessoal"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</a:p>
                    <a:p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</a:t>
                      </a:r>
                      <a:r>
                        <a:rPr lang="pt-BR" sz="1600" b="1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(texto)</a:t>
                      </a:r>
                    </a:p>
                    <a:p>
                      <a:endParaRPr lang="pt-BR" sz="1600" b="1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- nome=“João”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print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(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'Seu nome é:'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,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nome)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129877"/>
                  </a:ext>
                </a:extLst>
              </a:tr>
              <a:tr h="669825">
                <a:tc>
                  <a:txBody>
                    <a:bodyPr/>
                    <a:lstStyle/>
                    <a:p>
                      <a:pPr defTabSz="1455738"/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Quando se usa virgula para separar itens, a função</a:t>
                      </a:r>
                      <a:r>
                        <a:rPr lang="pt-BR" sz="1600" b="0" i="0" kern="1200" baseline="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print 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separa cada saída por espaços.</a:t>
                      </a:r>
                    </a:p>
                    <a:p>
                      <a:pPr defTabSz="1455738"/>
                      <a:endParaRPr lang="pt-BR" sz="1600" b="0" i="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  <a:p>
                      <a:pPr defTabSz="1455738"/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Pode-se utilizar o parâmetro </a:t>
                      </a:r>
                      <a:r>
                        <a:rPr lang="pt-BR" sz="1600" b="1" i="0" kern="1200" dirty="0" err="1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sep</a:t>
                      </a:r>
                      <a:r>
                        <a:rPr lang="pt-BR" sz="1600" b="1" i="0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 para definir um caractere de separação.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(dia, </a:t>
                      </a:r>
                      <a:r>
                        <a:rPr lang="pt-BR" sz="1600" dirty="0" err="1">
                          <a:effectLst/>
                          <a:latin typeface="Abadi" panose="020B0604020104020204" pitchFamily="34" charset="0"/>
                        </a:rPr>
                        <a:t>mes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, ano)</a:t>
                      </a:r>
                    </a:p>
                    <a:p>
                      <a:endParaRPr lang="pt-BR" sz="1600" dirty="0">
                        <a:effectLst/>
                        <a:latin typeface="Abadi" panose="020B0604020104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(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dia, </a:t>
                      </a:r>
                      <a:r>
                        <a:rPr lang="pt-BR" sz="16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mes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, ano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,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600" dirty="0" err="1">
                          <a:effectLst/>
                          <a:latin typeface="Abadi" panose="020B0604020104020204" pitchFamily="34" charset="0"/>
                        </a:rPr>
                        <a:t>sep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'/'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)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374477"/>
                  </a:ext>
                </a:extLst>
              </a:tr>
              <a:tr h="669825"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Por padrão, a função </a:t>
                      </a:r>
                      <a:r>
                        <a:rPr lang="pt-BR" sz="1600" b="0" i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 utiliza a quebra de linha </a:t>
                      </a:r>
                      <a:r>
                        <a:rPr lang="pt-BR" sz="1600" b="1" i="0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(\n)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como último </a:t>
                      </a:r>
                      <a:r>
                        <a:rPr lang="pt-BR" sz="1600" b="0" i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caracter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. O parâmetro </a:t>
                      </a:r>
                      <a:r>
                        <a:rPr lang="pt-BR" sz="1600" b="1" i="0" kern="1200" dirty="0" err="1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end</a:t>
                      </a:r>
                      <a:r>
                        <a:rPr lang="pt-BR" sz="1600" b="1" i="0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= 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é usado p/ trocar qual </a:t>
                      </a:r>
                      <a:r>
                        <a:rPr lang="pt-BR" sz="1600" b="0" i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caracter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será adicionado ao final do que for impresso.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(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'Vamos estudar Na '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,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600" dirty="0" err="1">
                          <a:effectLst/>
                          <a:latin typeface="Abadi" panose="020B0604020104020204" pitchFamily="34" charset="0"/>
                        </a:rPr>
                        <a:t>end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‘.’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)</a:t>
                      </a:r>
                    </a:p>
                    <a:p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(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'Python </a:t>
                      </a:r>
                      <a:r>
                        <a:rPr lang="pt-BR" sz="16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Academy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)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469636"/>
                  </a:ext>
                </a:extLst>
              </a:tr>
              <a:tr h="669825"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Quando desejamos que o cursor permaneça na mesma linha da mensagem impressa, colocamos o argumento de palavra-chave </a:t>
                      </a:r>
                      <a:r>
                        <a:rPr lang="pt-BR" sz="1600" b="1" i="1" kern="1200" dirty="0" err="1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end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, atribuindo uma </a:t>
                      </a:r>
                      <a:r>
                        <a:rPr lang="pt-BR" sz="1600" b="0" i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string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vazia a ele: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(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'Vamos estudar Na '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,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600" dirty="0" err="1">
                          <a:effectLst/>
                          <a:latin typeface="Abadi" panose="020B0604020104020204" pitchFamily="34" charset="0"/>
                        </a:rPr>
                        <a:t>end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‘ '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)</a:t>
                      </a:r>
                      <a:r>
                        <a:rPr lang="pt-BR" sz="1600" dirty="0">
                          <a:latin typeface="Abadi" panose="020B0604020104020204" pitchFamily="34" charset="0"/>
                        </a:rPr>
                        <a:t> 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(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'Python </a:t>
                      </a:r>
                      <a:r>
                        <a:rPr lang="pt-BR" sz="16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Academy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'</a:t>
                      </a:r>
                      <a:r>
                        <a:rPr lang="pt-BR" sz="1600" dirty="0">
                          <a:effectLst/>
                          <a:latin typeface="Abadi" panose="020B0604020104020204" pitchFamily="34" charset="0"/>
                        </a:rPr>
                        <a:t>)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977854"/>
                  </a:ext>
                </a:extLst>
              </a:tr>
              <a:tr h="669825">
                <a:tc>
                  <a:txBody>
                    <a:bodyPr/>
                    <a:lstStyle/>
                    <a:p>
                      <a:pPr fontAlgn="base"/>
                      <a:r>
                        <a:rPr lang="pt-BR" sz="1600" b="1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Concatenação de </a:t>
                      </a:r>
                      <a:r>
                        <a:rPr lang="pt-BR" sz="1600" b="1" i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Strings</a:t>
                      </a:r>
                      <a:r>
                        <a:rPr lang="pt-BR" sz="1600" b="1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-  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Pode-se  usar o usando o operador </a:t>
                      </a:r>
                      <a:r>
                        <a:rPr lang="pt-BR" sz="2800" b="1" i="0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+</a:t>
                      </a:r>
                      <a:r>
                        <a:rPr lang="pt-BR" sz="1800" b="1" i="0" kern="1200" dirty="0">
                          <a:solidFill>
                            <a:srgbClr val="FF0000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600" b="1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para 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concatenar </a:t>
                      </a:r>
                      <a:r>
                        <a:rPr lang="pt-BR" sz="1600" b="0" i="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strings</a:t>
                      </a:r>
                      <a:r>
                        <a:rPr lang="pt-BR" sz="1600" b="0" i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dentro da função print(), p/ exibir mensagens mais completas.</a:t>
                      </a:r>
                    </a:p>
                    <a:p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pt-BR" sz="16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nome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= input</a:t>
                      </a:r>
                      <a:r>
                        <a:rPr lang="pt-BR" sz="16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("Digite seu nome: ")</a:t>
                      </a:r>
                      <a:r>
                        <a:rPr lang="pt-BR" sz="1600" b="0" dirty="0">
                          <a:latin typeface="Abadi" panose="020B0604020104020204" pitchFamily="34" charset="0"/>
                        </a:rPr>
                        <a:t> 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print</a:t>
                      </a:r>
                      <a:r>
                        <a:rPr lang="pt-BR" sz="16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("Olá " 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+</a:t>
                      </a:r>
                      <a:r>
                        <a:rPr lang="pt-BR" sz="16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nome </a:t>
                      </a:r>
                      <a:r>
                        <a:rPr lang="pt-BR" sz="1600" b="1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+</a:t>
                      </a:r>
                      <a:r>
                        <a:rPr lang="pt-BR" sz="16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"!. Bem-vindo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pt-BR" sz="1600" b="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ao curso de Python!\n")</a:t>
                      </a:r>
                      <a:endParaRPr lang="pt-BR" sz="1600" dirty="0">
                        <a:latin typeface="Abadi" panose="020B0604020104020204" pitchFamily="34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55425"/>
                  </a:ext>
                </a:extLst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237820" y="-186612"/>
            <a:ext cx="101675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COMANDO  DE IMPRESSÃO NA TELA  </a:t>
            </a:r>
            <a:r>
              <a:rPr lang="pt-BR" sz="3600" b="1" dirty="0">
                <a:sym typeface="Wingdings" panose="05000000000000000000" pitchFamily="2" charset="2"/>
              </a:rPr>
              <a:t></a:t>
            </a:r>
            <a:r>
              <a:rPr lang="pt-BR" sz="3600" b="1" dirty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pt-BR" sz="48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print</a:t>
            </a:r>
            <a:endParaRPr lang="pt-BR" sz="3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533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872F45F-600F-AEE6-21FA-2E84BFE6AA6E}"/>
              </a:ext>
            </a:extLst>
          </p:cNvPr>
          <p:cNvSpPr txBox="1"/>
          <p:nvPr/>
        </p:nvSpPr>
        <p:spPr>
          <a:xfrm>
            <a:off x="136186" y="0"/>
            <a:ext cx="11614825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FF0000"/>
                </a:solidFill>
              </a:rPr>
              <a:t>Comentários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Comentários são anotações que você insere no seu código para torná-lo mais compreensível para você e para outros programadores.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Eles servem para: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pt-BR" b="1" dirty="0"/>
              <a:t>Explicar a lógica complexa:</a:t>
            </a:r>
            <a:r>
              <a:rPr lang="pt-BR" dirty="0"/>
              <a:t> Por que você fez algo de uma certa maneira.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pt-BR" b="1" dirty="0"/>
              <a:t>Descrever a função de um bloco de código:</a:t>
            </a:r>
            <a:r>
              <a:rPr lang="pt-BR" dirty="0"/>
              <a:t> O que um pedaço de código faz.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pt-BR" b="1" dirty="0"/>
              <a:t>Documentar o código:</a:t>
            </a:r>
            <a:r>
              <a:rPr lang="pt-BR" dirty="0"/>
              <a:t> Informar sobre o autor, a data de criação ou a versão.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pt-BR" b="1" dirty="0"/>
              <a:t>Tornar o código legível:</a:t>
            </a:r>
            <a:r>
              <a:rPr lang="pt-BR" dirty="0"/>
              <a:t> Dividir partes do programa com títulos ou anotações.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pt-BR" b="1" dirty="0"/>
              <a:t>"Desativar" código temporariamente:</a:t>
            </a:r>
            <a:r>
              <a:rPr lang="pt-BR" dirty="0"/>
              <a:t> Você pode comentar uma linha de código que não quer que seja executada, sem precisar apagá-la.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54F6331-22F9-5FD0-6F34-F9F6BC55E11F}"/>
              </a:ext>
            </a:extLst>
          </p:cNvPr>
          <p:cNvSpPr txBox="1"/>
          <p:nvPr/>
        </p:nvSpPr>
        <p:spPr>
          <a:xfrm>
            <a:off x="313716" y="3358993"/>
            <a:ext cx="11233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Comentários de Linha Única (</a:t>
            </a:r>
            <a:r>
              <a:rPr lang="pt-BR" b="1" dirty="0">
                <a:solidFill>
                  <a:srgbClr val="FF0000"/>
                </a:solidFill>
                <a:latin typeface="Courier New" panose="02070309020205020404" pitchFamily="49" charset="0"/>
              </a:rPr>
              <a:t>#</a:t>
            </a:r>
            <a:r>
              <a:rPr lang="pt-BR" b="1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pt-BR" dirty="0"/>
              <a:t>Este é o tipo mais comum. Para fazer um comentário, basta usar o sinal de </a:t>
            </a:r>
            <a:r>
              <a:rPr lang="pt-BR" dirty="0" err="1"/>
              <a:t>hash</a:t>
            </a:r>
            <a:r>
              <a:rPr lang="pt-BR" dirty="0"/>
              <a:t> (</a:t>
            </a:r>
            <a:r>
              <a:rPr lang="pt-BR" dirty="0">
                <a:latin typeface="Courier New" panose="02070309020205020404" pitchFamily="49" charset="0"/>
              </a:rPr>
              <a:t>#</a:t>
            </a:r>
            <a:r>
              <a:rPr lang="pt-BR" dirty="0"/>
              <a:t>) seguido do seu texto. Tudo que vier depois do </a:t>
            </a:r>
            <a:r>
              <a:rPr lang="pt-BR" dirty="0">
                <a:latin typeface="Courier New" panose="02070309020205020404" pitchFamily="49" charset="0"/>
              </a:rPr>
              <a:t>#</a:t>
            </a:r>
            <a:r>
              <a:rPr lang="pt-BR" dirty="0"/>
              <a:t> na mesma linha será ignorado pelo Python.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AA2E99-7840-46EA-8ED9-6809FC62636D}"/>
              </a:ext>
            </a:extLst>
          </p:cNvPr>
          <p:cNvSpPr txBox="1"/>
          <p:nvPr/>
        </p:nvSpPr>
        <p:spPr>
          <a:xfrm>
            <a:off x="527724" y="4368837"/>
            <a:ext cx="7079305" cy="23083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# Este é um comentário de linha única.</a:t>
            </a:r>
          </a:p>
          <a:p>
            <a:endParaRPr lang="pt-BR" dirty="0"/>
          </a:p>
          <a:p>
            <a:r>
              <a:rPr lang="pt-BR" dirty="0"/>
              <a:t>print("Olá, mundo!") # O que vier depois do # não será executado.</a:t>
            </a:r>
          </a:p>
          <a:p>
            <a:endParaRPr lang="pt-BR" dirty="0"/>
          </a:p>
          <a:p>
            <a:r>
              <a:rPr lang="pt-BR" dirty="0"/>
              <a:t># Calcula a área de um círculo</a:t>
            </a:r>
          </a:p>
          <a:p>
            <a:r>
              <a:rPr lang="pt-BR" dirty="0"/>
              <a:t>raio = 5</a:t>
            </a:r>
          </a:p>
          <a:p>
            <a:r>
              <a:rPr lang="pt-BR" dirty="0" err="1"/>
              <a:t>area</a:t>
            </a:r>
            <a:r>
              <a:rPr lang="pt-BR" dirty="0"/>
              <a:t> = 3.14 * raio * raio</a:t>
            </a:r>
          </a:p>
          <a:p>
            <a:r>
              <a:rPr lang="pt-BR" dirty="0"/>
              <a:t>print(</a:t>
            </a:r>
            <a:r>
              <a:rPr lang="pt-BR" dirty="0" err="1"/>
              <a:t>f"A</a:t>
            </a:r>
            <a:r>
              <a:rPr lang="pt-BR" dirty="0"/>
              <a:t> área do círculo é {</a:t>
            </a:r>
            <a:r>
              <a:rPr lang="pt-BR" dirty="0" err="1"/>
              <a:t>area</a:t>
            </a:r>
            <a:r>
              <a:rPr lang="pt-BR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3503362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91311" y="252919"/>
            <a:ext cx="11809378" cy="59093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Variáveis em Python</a:t>
            </a:r>
          </a:p>
          <a:p>
            <a:endParaRPr lang="pt-BR" dirty="0"/>
          </a:p>
          <a:p>
            <a:r>
              <a:rPr lang="pt-BR" dirty="0"/>
              <a:t>	Uma variável é um nome que se refere a um valor ARMAZENADO NA MEMÓRIA .  </a:t>
            </a:r>
          </a:p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	Variáveis são usadas para guardarmos valores que serão usados mais tarde no programa.</a:t>
            </a:r>
          </a:p>
          <a:p>
            <a:endParaRPr lang="pt" dirty="0"/>
          </a:p>
          <a:p>
            <a:r>
              <a:rPr lang="pt-BR" dirty="0"/>
              <a:t>	</a:t>
            </a:r>
            <a:r>
              <a:rPr lang="pt-BR" sz="2000" dirty="0"/>
              <a:t>Atenção, </a:t>
            </a:r>
            <a:r>
              <a:rPr lang="pt-BR" sz="2000" b="1" u="sng" dirty="0">
                <a:solidFill>
                  <a:srgbClr val="FF0000"/>
                </a:solidFill>
              </a:rPr>
              <a:t>maiúscula é diferente de minúscula. Assim maior e Maior são duas variáveis diferentes.</a:t>
            </a:r>
          </a:p>
          <a:p>
            <a:endParaRPr lang="pt-BR" sz="20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pt-BR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b="1" u="sng" dirty="0">
                <a:solidFill>
                  <a:schemeClr val="accent1">
                    <a:lumMod val="75000"/>
                  </a:schemeClr>
                </a:solidFill>
              </a:rPr>
              <a:t>TIPOS: </a:t>
            </a:r>
          </a:p>
          <a:p>
            <a:endParaRPr lang="pt-BR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Inteiro (</a:t>
            </a:r>
            <a:r>
              <a:rPr lang="pt-BR" b="1" dirty="0" err="1">
                <a:solidFill>
                  <a:srgbClr val="FF0000"/>
                </a:solidFill>
                <a:latin typeface="Abadi" panose="020B0604020104020204" pitchFamily="34" charset="0"/>
              </a:rPr>
              <a:t>int</a:t>
            </a:r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): </a:t>
            </a:r>
            <a:r>
              <a:rPr lang="pt-BR" sz="1600" dirty="0">
                <a:latin typeface="Abadi" panose="020B0604020104020204" pitchFamily="34" charset="0"/>
              </a:rPr>
              <a:t>Representa números inteiros, como 1, -5, 100, etc.  </a:t>
            </a:r>
            <a:r>
              <a:rPr lang="pt-BR" sz="1600" b="1" dirty="0">
                <a:solidFill>
                  <a:srgbClr val="7030A0"/>
                </a:solidFill>
                <a:latin typeface="Abadi" panose="020B0604020104020204" pitchFamily="34" charset="0"/>
              </a:rPr>
              <a:t>Exemplo:</a:t>
            </a:r>
            <a:r>
              <a:rPr lang="pt-BR" sz="1600" dirty="0">
                <a:latin typeface="Abadi" panose="020B0604020104020204" pitchFamily="34" charset="0"/>
              </a:rPr>
              <a:t> idade = 25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Ponto Flutuante (</a:t>
            </a:r>
            <a:r>
              <a:rPr lang="pt-BR" b="1" dirty="0" err="1">
                <a:solidFill>
                  <a:srgbClr val="FF0000"/>
                </a:solidFill>
                <a:latin typeface="Abadi" panose="020B0604020104020204" pitchFamily="34" charset="0"/>
              </a:rPr>
              <a:t>float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):  </a:t>
            </a:r>
            <a:r>
              <a:rPr lang="pt-BR" sz="1600" dirty="0">
                <a:latin typeface="Abadi" panose="020B0604020104020204" pitchFamily="34" charset="0"/>
              </a:rPr>
              <a:t>Representa números de ponto flutuante, ou seja, números reais, como 3.14, -0.001, etc. </a:t>
            </a:r>
          </a:p>
          <a:p>
            <a:r>
              <a:rPr lang="pt-BR" sz="1600" b="1" dirty="0">
                <a:solidFill>
                  <a:srgbClr val="7030A0"/>
                </a:solidFill>
                <a:latin typeface="Abadi" panose="020B0604020104020204" pitchFamily="34" charset="0"/>
              </a:rPr>
              <a:t>Exemplo: </a:t>
            </a:r>
            <a:r>
              <a:rPr lang="pt-BR" sz="1600" dirty="0">
                <a:latin typeface="Abadi" panose="020B0604020104020204" pitchFamily="34" charset="0"/>
              </a:rPr>
              <a:t>altura = 1.75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b="1" dirty="0" err="1">
                <a:solidFill>
                  <a:srgbClr val="FF0000"/>
                </a:solidFill>
                <a:latin typeface="Abadi" panose="020B0604020104020204" pitchFamily="34" charset="0"/>
              </a:rPr>
              <a:t>String</a:t>
            </a:r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 (</a:t>
            </a:r>
            <a:r>
              <a:rPr lang="pt-BR" b="1" dirty="0" err="1">
                <a:solidFill>
                  <a:srgbClr val="FF0000"/>
                </a:solidFill>
                <a:latin typeface="Abadi" panose="020B0604020104020204" pitchFamily="34" charset="0"/>
              </a:rPr>
              <a:t>str</a:t>
            </a:r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): </a:t>
            </a:r>
            <a:r>
              <a:rPr lang="pt-BR" sz="1600" dirty="0">
                <a:latin typeface="Abadi" panose="020B0604020104020204" pitchFamily="34" charset="0"/>
              </a:rPr>
              <a:t>Representa uma sequência de caracteres.   </a:t>
            </a:r>
            <a:r>
              <a:rPr lang="pt-BR" sz="1600" b="1" dirty="0">
                <a:solidFill>
                  <a:srgbClr val="7030A0"/>
                </a:solidFill>
                <a:latin typeface="Abadi" panose="020B0604020104020204" pitchFamily="34" charset="0"/>
              </a:rPr>
              <a:t>Exemplo:</a:t>
            </a:r>
            <a:r>
              <a:rPr lang="pt-BR" sz="1600" dirty="0">
                <a:latin typeface="Abadi" panose="020B0604020104020204" pitchFamily="34" charset="0"/>
              </a:rPr>
              <a:t> nome = "Maria"</a:t>
            </a: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Booleano (</a:t>
            </a:r>
            <a:r>
              <a:rPr lang="pt-BR" b="1" dirty="0" err="1">
                <a:solidFill>
                  <a:srgbClr val="FF0000"/>
                </a:solidFill>
                <a:latin typeface="Abadi" panose="020B0604020104020204" pitchFamily="34" charset="0"/>
              </a:rPr>
              <a:t>bool</a:t>
            </a:r>
            <a:r>
              <a:rPr lang="pt-BR" b="1" dirty="0">
                <a:solidFill>
                  <a:srgbClr val="FF0000"/>
                </a:solidFill>
                <a:latin typeface="Abadi" panose="020B0604020104020204" pitchFamily="34" charset="0"/>
              </a:rPr>
              <a:t>): </a:t>
            </a:r>
            <a:r>
              <a:rPr lang="pt-BR" sz="1600" dirty="0">
                <a:latin typeface="Abadi" panose="020B0604020104020204" pitchFamily="34" charset="0"/>
              </a:rPr>
              <a:t>Representa valores booleanos </a:t>
            </a:r>
            <a:r>
              <a:rPr lang="pt-BR" sz="1600" dirty="0" err="1">
                <a:latin typeface="Abadi" panose="020B0604020104020204" pitchFamily="34" charset="0"/>
              </a:rPr>
              <a:t>True</a:t>
            </a:r>
            <a:r>
              <a:rPr lang="pt-BR" sz="1600" dirty="0">
                <a:latin typeface="Abadi" panose="020B0604020104020204" pitchFamily="34" charset="0"/>
              </a:rPr>
              <a:t> ou False. </a:t>
            </a:r>
            <a:r>
              <a:rPr lang="pt-BR" sz="1600" b="1" dirty="0">
                <a:solidFill>
                  <a:srgbClr val="7030A0"/>
                </a:solidFill>
                <a:latin typeface="Abadi" panose="020B0604020104020204" pitchFamily="34" charset="0"/>
              </a:rPr>
              <a:t>Exemplo:</a:t>
            </a:r>
            <a:r>
              <a:rPr lang="pt-BR" sz="1600" dirty="0">
                <a:latin typeface="Abadi" panose="020B0604020104020204" pitchFamily="34" charset="0"/>
              </a:rPr>
              <a:t> </a:t>
            </a:r>
            <a:r>
              <a:rPr lang="pt-BR" sz="1600" dirty="0" err="1">
                <a:latin typeface="Abadi" panose="020B0604020104020204" pitchFamily="34" charset="0"/>
              </a:rPr>
              <a:t>tem_carro</a:t>
            </a:r>
            <a:r>
              <a:rPr lang="pt-BR" sz="1600" dirty="0">
                <a:latin typeface="Abadi" panose="020B0604020104020204" pitchFamily="34" charset="0"/>
              </a:rPr>
              <a:t> = </a:t>
            </a:r>
            <a:r>
              <a:rPr lang="pt-BR" sz="1600" dirty="0" err="1">
                <a:latin typeface="Abadi" panose="020B0604020104020204" pitchFamily="34" charset="0"/>
              </a:rPr>
              <a:t>True</a:t>
            </a:r>
            <a:endParaRPr lang="pt-BR" sz="1600" dirty="0">
              <a:latin typeface="Abadi" panose="020B0604020104020204" pitchFamily="34" charset="0"/>
            </a:endParaRPr>
          </a:p>
          <a:p>
            <a:endParaRPr lang="pt-BR" sz="1600" dirty="0">
              <a:latin typeface="Abadi" panose="020B0604020104020204" pitchFamily="34" charset="0"/>
            </a:endParaRPr>
          </a:p>
          <a:p>
            <a:r>
              <a:rPr lang="pt-BR" sz="2000" b="1" dirty="0">
                <a:solidFill>
                  <a:srgbClr val="FF0000"/>
                </a:solidFill>
                <a:latin typeface="Abadi" panose="020B0604020104020204" pitchFamily="34" charset="0"/>
              </a:rPr>
              <a:t>Lista (</a:t>
            </a:r>
            <a:r>
              <a:rPr lang="pt-BR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list</a:t>
            </a:r>
            <a:r>
              <a:rPr lang="pt-BR" sz="2000" b="1" dirty="0">
                <a:solidFill>
                  <a:srgbClr val="FF0000"/>
                </a:solidFill>
                <a:latin typeface="Abadi" panose="020B0604020104020204" pitchFamily="34" charset="0"/>
              </a:rPr>
              <a:t>): </a:t>
            </a:r>
            <a:r>
              <a:rPr lang="pt-BR" sz="1600" dirty="0">
                <a:latin typeface="Abadi" panose="020B0604020104020204" pitchFamily="34" charset="0"/>
              </a:rPr>
              <a:t>Representa uma coleção ordenada e mutável de itens. </a:t>
            </a:r>
            <a:r>
              <a:rPr lang="pt-BR" sz="1600" b="1" dirty="0">
                <a:solidFill>
                  <a:srgbClr val="7030A0"/>
                </a:solidFill>
                <a:latin typeface="Abadi" panose="020B0604020104020204" pitchFamily="34" charset="0"/>
              </a:rPr>
              <a:t>Exemplo</a:t>
            </a:r>
            <a:r>
              <a:rPr lang="pt-BR" sz="1600" dirty="0">
                <a:latin typeface="Abadi" panose="020B0604020104020204" pitchFamily="34" charset="0"/>
              </a:rPr>
              <a:t>: </a:t>
            </a:r>
            <a:r>
              <a:rPr lang="pt-BR" sz="1600" dirty="0" err="1">
                <a:latin typeface="Abadi" panose="020B0604020104020204" pitchFamily="34" charset="0"/>
              </a:rPr>
              <a:t>numeros</a:t>
            </a:r>
            <a:r>
              <a:rPr lang="pt-BR" sz="1600" dirty="0">
                <a:latin typeface="Abadi" panose="020B0604020104020204" pitchFamily="34" charset="0"/>
              </a:rPr>
              <a:t> = [1, 2, 3, 4, 5]</a:t>
            </a:r>
          </a:p>
        </p:txBody>
      </p:sp>
    </p:spTree>
    <p:extLst>
      <p:ext uri="{BB962C8B-B14F-4D97-AF65-F5344CB8AC3E}">
        <p14:creationId xmlns:p14="http://schemas.microsoft.com/office/powerpoint/2010/main" val="190492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52919" y="437744"/>
            <a:ext cx="12192000" cy="59708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Atribuição Em Python</a:t>
            </a:r>
          </a:p>
          <a:p>
            <a:endParaRPr lang="pt-BR" dirty="0"/>
          </a:p>
          <a:p>
            <a:endParaRPr lang="pt" dirty="0"/>
          </a:p>
          <a:p>
            <a:r>
              <a:rPr lang="pt-BR" sz="3200" b="1" dirty="0"/>
              <a:t>Atribuição - </a:t>
            </a:r>
            <a:r>
              <a:rPr lang="pt-BR" sz="2000" dirty="0"/>
              <a:t>Um comando de atribuição </a:t>
            </a:r>
            <a:r>
              <a:rPr lang="pt-BR" sz="2000" b="1" u="sng" dirty="0">
                <a:solidFill>
                  <a:srgbClr val="FF0000"/>
                </a:solidFill>
              </a:rPr>
              <a:t>cria uma nova variável </a:t>
            </a:r>
            <a:r>
              <a:rPr lang="pt-BR" sz="2000" dirty="0"/>
              <a:t>e lhe dá um valor. Um comando de atribuição tem a seguinte forma:   </a:t>
            </a:r>
            <a:r>
              <a:rPr lang="pt-BR" sz="2400" b="1" dirty="0"/>
              <a:t>variável = expressão</a:t>
            </a:r>
          </a:p>
          <a:p>
            <a:endParaRPr lang="pt-BR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o valor da expressão é calculado;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a variável é criada;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a variável passa a fazer referência/guardar o valor</a:t>
            </a:r>
          </a:p>
          <a:p>
            <a:pPr lvl="1"/>
            <a:endParaRPr lang="pt-BR" sz="2000" dirty="0"/>
          </a:p>
          <a:p>
            <a:pPr marL="0" lvl="1"/>
            <a:r>
              <a:rPr lang="pt-BR" sz="3200" b="1" dirty="0"/>
              <a:t>Exemplos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num  = 15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soma = 0  # este é um comentário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soma = soma + num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a =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b = 4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883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22514" y="551543"/>
            <a:ext cx="11219543" cy="62170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Operadores Aritméticos em Python</a:t>
            </a:r>
          </a:p>
          <a:p>
            <a:endParaRPr lang="pt-BR" sz="2800" b="1" dirty="0">
              <a:solidFill>
                <a:srgbClr val="FF0000"/>
              </a:solidFill>
            </a:endParaRPr>
          </a:p>
          <a:p>
            <a:r>
              <a:rPr lang="pt-BR" dirty="0"/>
              <a:t> Operadores são símbolos que executam uma manipulação matemática ou lógica específica.</a:t>
            </a:r>
          </a:p>
          <a:p>
            <a:endParaRPr lang="pt-BR" sz="2000" dirty="0">
              <a:solidFill>
                <a:srgbClr val="FF0000"/>
              </a:solidFill>
            </a:endParaRPr>
          </a:p>
          <a:p>
            <a:r>
              <a:rPr lang="pt-BR" sz="2000" b="1" dirty="0">
                <a:solidFill>
                  <a:srgbClr val="FF0000"/>
                </a:solidFill>
              </a:rPr>
              <a:t>Operadores Aritméticos</a:t>
            </a:r>
          </a:p>
          <a:p>
            <a:endParaRPr lang="pt-BR" sz="2000" b="1" dirty="0">
              <a:solidFill>
                <a:srgbClr val="FF0000"/>
              </a:solidFill>
            </a:endParaRPr>
          </a:p>
          <a:p>
            <a:r>
              <a:rPr lang="pt-BR" dirty="0"/>
              <a:t> 	Os operadores aritméticos são aqueles que executam operações matemáticas.</a:t>
            </a:r>
          </a:p>
          <a:p>
            <a:r>
              <a:rPr lang="pt-BR" dirty="0"/>
              <a:t>	</a:t>
            </a:r>
          </a:p>
          <a:p>
            <a:endParaRPr lang="pt-BR" dirty="0"/>
          </a:p>
          <a:p>
            <a:r>
              <a:rPr lang="pt-BR" dirty="0"/>
              <a:t>	Considere as seguintes variáveis: A = 10 e B = 20</a:t>
            </a:r>
          </a:p>
          <a:p>
            <a:endParaRPr lang="pt-BR" b="1" dirty="0"/>
          </a:p>
          <a:p>
            <a:endParaRPr lang="pt-BR" b="1" dirty="0"/>
          </a:p>
          <a:p>
            <a:pPr lvl="2"/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	Descrição			Exemplo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+		Adição				A + B = 30</a:t>
            </a:r>
          </a:p>
          <a:p>
            <a:pPr lvl="2"/>
            <a:r>
              <a:rPr lang="pt" b="1" dirty="0">
                <a:latin typeface="Arial" panose="020B0604020202020204" pitchFamily="34" charset="0"/>
                <a:cs typeface="Arial" panose="020B0604020202020204" pitchFamily="34" charset="0"/>
              </a:rPr>
              <a:t>–	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Subtração			A – B = -10</a:t>
            </a:r>
          </a:p>
          <a:p>
            <a:pPr lvl="2"/>
            <a:r>
              <a:rPr lang="pt" b="1" dirty="0">
                <a:latin typeface="Arial" panose="020B0604020202020204" pitchFamily="34" charset="0"/>
                <a:cs typeface="Arial" panose="020B0604020202020204" pitchFamily="34" charset="0"/>
              </a:rPr>
              <a:t>*	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Multiplicação			A * B = 200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/		Divisão				B / A = 2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%		Módulo (resto da divisão)	B % A = 0</a:t>
            </a:r>
          </a:p>
          <a:p>
            <a:pPr lvl="2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**		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Exponenciação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			A**2 = 100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2288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22514" y="551543"/>
            <a:ext cx="11219543" cy="35394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</a:rPr>
              <a:t>Operadores Aritméticos e de Atribuição Em Python</a:t>
            </a:r>
          </a:p>
          <a:p>
            <a:endParaRPr lang="pt-BR" sz="2800" b="1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sz="2400" b="1" dirty="0">
                <a:solidFill>
                  <a:srgbClr val="FF0000"/>
                </a:solidFill>
              </a:rPr>
              <a:t>Precedência de Operadores</a:t>
            </a:r>
          </a:p>
          <a:p>
            <a:endParaRPr lang="pt-BR" sz="2400" b="1" dirty="0">
              <a:solidFill>
                <a:srgbClr val="FF0000"/>
              </a:solidFill>
            </a:endParaRPr>
          </a:p>
          <a:p>
            <a:r>
              <a:rPr lang="pt-BR" dirty="0"/>
              <a:t>A precedência de operador determina o agrupamento em uma expressão. Isso afeta o resultado de uma expressão. </a:t>
            </a:r>
          </a:p>
          <a:p>
            <a:r>
              <a:rPr lang="pt-BR" dirty="0"/>
              <a:t>Certos operadores têm maior precedência do que outros.</a:t>
            </a:r>
          </a:p>
          <a:p>
            <a:r>
              <a:rPr lang="pt-BR" dirty="0"/>
              <a:t> 	Por exemplo:</a:t>
            </a:r>
          </a:p>
          <a:p>
            <a:endParaRPr lang="pt-BR" dirty="0"/>
          </a:p>
          <a:p>
            <a:r>
              <a:rPr lang="pt-BR" dirty="0"/>
              <a:t>		x = 7 + 3 * 2 - Primeiro resolvemos a multiplicação e depois a adição.</a:t>
            </a:r>
          </a:p>
          <a:p>
            <a:r>
              <a:rPr lang="pt-BR" dirty="0"/>
              <a:t>		Para resolvermos a adição primeiro, utilizamos parênteses: x = (7 + 3) * 2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136" y="4193495"/>
            <a:ext cx="5539922" cy="2408119"/>
          </a:xfrm>
          <a:prstGeom prst="rect">
            <a:avLst/>
          </a:prstGeom>
        </p:spPr>
      </p:pic>
      <p:pic>
        <p:nvPicPr>
          <p:cNvPr id="2049" name="Picture 1" descr="$ 1^{\rm\underline{a}}$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$ 2^{\rm\underline{a}}$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$ 3^{\rm\underline{a}}$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$ 4^{\rm\underline{a}}$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$ 1^{\rm\underline{a}}$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$ 2^{\rm\underline{a}}$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$ 3^{\rm\underline{a}}$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$ 4^{\rm\underline{a}}$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347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30088" y="0"/>
            <a:ext cx="11465281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400" b="1" dirty="0">
                <a:solidFill>
                  <a:srgbClr val="FF0000"/>
                </a:solidFill>
                <a:latin typeface="Abadi" panose="020B0604020104020204" pitchFamily="34" charset="0"/>
              </a:rPr>
              <a:t>Exercícios 13 – Elabore Programas em Python para :</a:t>
            </a:r>
          </a:p>
          <a:p>
            <a:r>
              <a:rPr lang="pt-BR" sz="1400" b="1" dirty="0">
                <a:latin typeface="Abadi" panose="020B0604020104020204" pitchFamily="34" charset="0"/>
              </a:rPr>
              <a:t>1. Calculadora de IMC</a:t>
            </a:r>
          </a:p>
          <a:p>
            <a:r>
              <a:rPr lang="pt-BR" sz="1400" dirty="0">
                <a:latin typeface="Abadi" panose="020B0604020104020204" pitchFamily="34" charset="0"/>
              </a:rPr>
              <a:t>Escreva um programa em Python que solicita ao usuário seu peso (em kg) e sua altura (em metros). Calcule o </a:t>
            </a:r>
            <a:r>
              <a:rPr lang="pt-BR" sz="1400" b="1" dirty="0">
                <a:latin typeface="Abadi" panose="020B0604020104020204" pitchFamily="34" charset="0"/>
              </a:rPr>
              <a:t>Índice de Massa Corporal (IMC)</a:t>
            </a:r>
            <a:r>
              <a:rPr lang="pt-BR" sz="1400" dirty="0">
                <a:latin typeface="Abadi" panose="020B0604020104020204" pitchFamily="34" charset="0"/>
              </a:rPr>
              <a:t> usando a fórmula IMC=peso/altura2. Por fim, imprima o resultado com uma mensagem formatada, por exemplo: "Seu IMC é de XX.XX.".</a:t>
            </a:r>
          </a:p>
          <a:p>
            <a:br>
              <a:rPr lang="pt-BR" sz="1400" dirty="0">
                <a:latin typeface="Abadi" panose="020B0604020104020204" pitchFamily="34" charset="0"/>
              </a:rPr>
            </a:br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b="1" dirty="0">
                <a:latin typeface="Abadi" panose="020B0604020104020204" pitchFamily="34" charset="0"/>
              </a:rPr>
              <a:t>2. Conversor de Moedas</a:t>
            </a:r>
          </a:p>
          <a:p>
            <a:r>
              <a:rPr lang="pt-BR" sz="1400" dirty="0">
                <a:latin typeface="Abadi" panose="020B0604020104020204" pitchFamily="34" charset="0"/>
              </a:rPr>
              <a:t>Crie um script que pede ao usuário o valor em reais (R$) e a cotação atual do dólar. Calcule o valor correspondente em dólares e exiba o resultado.</a:t>
            </a:r>
          </a:p>
          <a:p>
            <a:br>
              <a:rPr lang="pt-BR" sz="1400" dirty="0">
                <a:latin typeface="Abadi" panose="020B0604020104020204" pitchFamily="34" charset="0"/>
              </a:rPr>
            </a:br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b="1" dirty="0">
                <a:latin typeface="Abadi" panose="020B0604020104020204" pitchFamily="34" charset="0"/>
              </a:rPr>
              <a:t>3. Cálculo de Média Escolar</a:t>
            </a:r>
          </a:p>
          <a:p>
            <a:r>
              <a:rPr lang="pt-BR" sz="1400" dirty="0">
                <a:latin typeface="Abadi" panose="020B0604020104020204" pitchFamily="34" charset="0"/>
              </a:rPr>
              <a:t>Desenvolva um programa que leia as notas de três provas de um aluno. Calcule a </a:t>
            </a:r>
            <a:r>
              <a:rPr lang="pt-BR" sz="1400" b="1" dirty="0">
                <a:latin typeface="Abadi" panose="020B0604020104020204" pitchFamily="34" charset="0"/>
              </a:rPr>
              <a:t>média aritmética</a:t>
            </a:r>
            <a:r>
              <a:rPr lang="pt-BR" sz="1400" dirty="0">
                <a:latin typeface="Abadi" panose="020B0604020104020204" pitchFamily="34" charset="0"/>
              </a:rPr>
              <a:t> e imprima o resultado com uma mensagem indicando se o aluno foi aprovado (média &gt;= 7) ou reprovado.</a:t>
            </a:r>
          </a:p>
          <a:p>
            <a:br>
              <a:rPr lang="pt-BR" sz="1400" dirty="0">
                <a:latin typeface="Abadi" panose="020B0604020104020204" pitchFamily="34" charset="0"/>
              </a:rPr>
            </a:br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b="1" dirty="0">
                <a:latin typeface="Abadi" panose="020B0604020104020204" pitchFamily="34" charset="0"/>
              </a:rPr>
              <a:t>4. Anos para Meses, Dias e Horas</a:t>
            </a:r>
          </a:p>
          <a:p>
            <a:r>
              <a:rPr lang="pt-BR" sz="1400" dirty="0">
                <a:latin typeface="Abadi" panose="020B0604020104020204" pitchFamily="34" charset="0"/>
              </a:rPr>
              <a:t>Receba um número de anos como entrada do usuário. Converta esse valor para </a:t>
            </a:r>
            <a:r>
              <a:rPr lang="pt-BR" sz="1400" b="1" dirty="0">
                <a:latin typeface="Abadi" panose="020B0604020104020204" pitchFamily="34" charset="0"/>
              </a:rPr>
              <a:t>meses, dias e horas</a:t>
            </a:r>
            <a:r>
              <a:rPr lang="pt-BR" sz="1400" dirty="0">
                <a:latin typeface="Abadi" panose="020B0604020104020204" pitchFamily="34" charset="0"/>
              </a:rPr>
              <a:t>, e imprima cada um dos resultados com a sua respectiva unidade. (Considere 1 ano = 12 meses, 1 mês = 30 dias e 1 dia = 24 horas).</a:t>
            </a:r>
          </a:p>
          <a:p>
            <a:br>
              <a:rPr lang="pt-BR" sz="1400" dirty="0">
                <a:latin typeface="Abadi" panose="020B0604020104020204" pitchFamily="34" charset="0"/>
              </a:rPr>
            </a:br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b="1" dirty="0">
                <a:latin typeface="Abadi" panose="020B0604020104020204" pitchFamily="34" charset="0"/>
              </a:rPr>
              <a:t>5. Área e Perímetro de um Retângulo</a:t>
            </a:r>
          </a:p>
          <a:p>
            <a:r>
              <a:rPr lang="pt-BR" sz="1400" dirty="0">
                <a:latin typeface="Abadi" panose="020B0604020104020204" pitchFamily="34" charset="0"/>
              </a:rPr>
              <a:t>Peça ao usuário para inserir o comprimento e a largura de um retângulo. Calcule a </a:t>
            </a:r>
            <a:r>
              <a:rPr lang="pt-BR" sz="1400" b="1" dirty="0">
                <a:latin typeface="Abadi" panose="020B0604020104020204" pitchFamily="34" charset="0"/>
              </a:rPr>
              <a:t>área</a:t>
            </a:r>
            <a:r>
              <a:rPr lang="pt-BR" sz="1400" dirty="0">
                <a:latin typeface="Abadi" panose="020B0604020104020204" pitchFamily="34" charset="0"/>
              </a:rPr>
              <a:t> (A=</a:t>
            </a:r>
            <a:r>
              <a:rPr lang="pt-BR" sz="1400" dirty="0" err="1">
                <a:latin typeface="Abadi" panose="020B0604020104020204" pitchFamily="34" charset="0"/>
              </a:rPr>
              <a:t>comprimento∗largura</a:t>
            </a:r>
            <a:r>
              <a:rPr lang="pt-BR" sz="1400" dirty="0">
                <a:latin typeface="Abadi" panose="020B0604020104020204" pitchFamily="34" charset="0"/>
              </a:rPr>
              <a:t>) e o </a:t>
            </a:r>
            <a:r>
              <a:rPr lang="pt-BR" sz="1400" b="1" dirty="0">
                <a:latin typeface="Abadi" panose="020B0604020104020204" pitchFamily="34" charset="0"/>
              </a:rPr>
              <a:t>perímetro</a:t>
            </a:r>
            <a:r>
              <a:rPr lang="pt-BR" sz="1400" dirty="0">
                <a:latin typeface="Abadi" panose="020B0604020104020204" pitchFamily="34" charset="0"/>
              </a:rPr>
              <a:t> (P=2∗(</a:t>
            </a:r>
            <a:r>
              <a:rPr lang="pt-BR" sz="1400" dirty="0" err="1">
                <a:latin typeface="Abadi" panose="020B0604020104020204" pitchFamily="34" charset="0"/>
              </a:rPr>
              <a:t>comprimento+largura</a:t>
            </a:r>
            <a:r>
              <a:rPr lang="pt-BR" sz="1400" dirty="0">
                <a:latin typeface="Abadi" panose="020B0604020104020204" pitchFamily="34" charset="0"/>
              </a:rPr>
              <a:t>)) do retângulo. Imprima ambos os resultados de forma clara.</a:t>
            </a:r>
          </a:p>
          <a:p>
            <a:br>
              <a:rPr lang="pt-BR" sz="1400" dirty="0">
                <a:latin typeface="Abadi" panose="020B0604020104020204" pitchFamily="34" charset="0"/>
              </a:rPr>
            </a:br>
            <a:endParaRPr lang="pt-BR" sz="1400" dirty="0">
              <a:latin typeface="Abadi" panose="020B0604020104020204" pitchFamily="34" charset="0"/>
            </a:endParaRPr>
          </a:p>
          <a:p>
            <a:r>
              <a:rPr lang="pt-BR" sz="1400" b="1" dirty="0">
                <a:latin typeface="Abadi" panose="020B0604020104020204" pitchFamily="34" charset="0"/>
              </a:rPr>
              <a:t>6. Desconto em Produtos</a:t>
            </a:r>
          </a:p>
          <a:p>
            <a:r>
              <a:rPr lang="pt-BR" sz="1400" dirty="0">
                <a:latin typeface="Abadi" panose="020B0604020104020204" pitchFamily="34" charset="0"/>
              </a:rPr>
              <a:t>Elabore um programa que solicita o valor total de uma compra e a porcentagem de desconto a ser aplicada. Calcule o </a:t>
            </a:r>
            <a:r>
              <a:rPr lang="pt-BR" sz="1400" b="1" dirty="0">
                <a:latin typeface="Abadi" panose="020B0604020104020204" pitchFamily="34" charset="0"/>
              </a:rPr>
              <a:t>valor final com o desconto</a:t>
            </a:r>
            <a:r>
              <a:rPr lang="pt-BR" sz="1400" dirty="0">
                <a:latin typeface="Abadi" panose="020B0604020104020204" pitchFamily="34" charset="0"/>
              </a:rPr>
              <a:t> e exiba o valor original, o valor do desconto e o valor a ser pago pelo cliente.</a:t>
            </a:r>
          </a:p>
          <a:p>
            <a:br>
              <a:rPr lang="pt-BR" sz="1400" dirty="0">
                <a:latin typeface="Abadi" panose="020B0604020104020204" pitchFamily="34" charset="0"/>
              </a:rPr>
            </a:br>
            <a:endParaRPr lang="pt-BR" sz="1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395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F152-9C30-2D89-BA3E-6FAB8C05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5F04ED1-712C-884E-60BD-1B994DF5A32A}"/>
              </a:ext>
            </a:extLst>
          </p:cNvPr>
          <p:cNvSpPr/>
          <p:nvPr/>
        </p:nvSpPr>
        <p:spPr>
          <a:xfrm>
            <a:off x="587288" y="0"/>
            <a:ext cx="10541153" cy="6372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400" b="1" dirty="0">
                <a:solidFill>
                  <a:srgbClr val="FF0000"/>
                </a:solidFill>
              </a:rPr>
              <a:t>Exercícios 13 – (CONT)</a:t>
            </a:r>
            <a:br>
              <a:rPr lang="pt-BR" sz="1600" dirty="0"/>
            </a:br>
            <a:endParaRPr lang="pt-BR" sz="1600" dirty="0"/>
          </a:p>
          <a:p>
            <a:r>
              <a:rPr lang="pt-BR" sz="1600" b="1" dirty="0"/>
              <a:t>7. Conversor de Temperatura</a:t>
            </a:r>
          </a:p>
          <a:p>
            <a:r>
              <a:rPr lang="pt-BR" sz="1600" dirty="0"/>
              <a:t>Escreva um script que lê uma temperatura em graus Celsius (°C) e a converte para Fahrenheit (</a:t>
            </a:r>
            <a:r>
              <a:rPr lang="pt-BR" sz="1600" dirty="0" err="1"/>
              <a:t>°F</a:t>
            </a:r>
            <a:r>
              <a:rPr lang="pt-BR" sz="1600" dirty="0"/>
              <a:t>) usando a fórmula F=C∗9/5+32. Imprima o valor convertido com um texto explicativo.</a:t>
            </a:r>
          </a:p>
          <a:p>
            <a:br>
              <a:rPr lang="pt-BR" sz="1600" dirty="0"/>
            </a:br>
            <a:endParaRPr lang="pt-BR" sz="1600" dirty="0"/>
          </a:p>
          <a:p>
            <a:r>
              <a:rPr lang="pt-BR" sz="1600" b="1" dirty="0"/>
              <a:t>8. Reajuste Salarial</a:t>
            </a:r>
          </a:p>
          <a:p>
            <a:r>
              <a:rPr lang="pt-BR" sz="1600" dirty="0"/>
              <a:t>Crie um programa que recebe o salário atual de um funcionário e a porcentagem de aumento. Calcule o </a:t>
            </a:r>
            <a:r>
              <a:rPr lang="pt-BR" sz="1600" b="1" dirty="0"/>
              <a:t>novo salário</a:t>
            </a:r>
            <a:r>
              <a:rPr lang="pt-BR" sz="1600" dirty="0"/>
              <a:t> e imprima o salário antigo, o aumento concedido e o salário reajustado.</a:t>
            </a:r>
          </a:p>
          <a:p>
            <a:br>
              <a:rPr lang="pt-BR" sz="1600" dirty="0"/>
            </a:br>
            <a:endParaRPr lang="pt-BR" sz="1600" dirty="0"/>
          </a:p>
          <a:p>
            <a:r>
              <a:rPr lang="pt-BR" sz="1600" b="1" dirty="0"/>
              <a:t>9. Custo da Viagem</a:t>
            </a:r>
          </a:p>
          <a:p>
            <a:r>
              <a:rPr lang="pt-BR" sz="1600" dirty="0"/>
              <a:t>Desenvolva um programa que pede a distância total de uma viagem (em km) e o consumo médio de combustível do carro (em km/litro). Calcule a quantidade de litros de combustível necessários para a viagem. O programa também deve solicitar o preço do litro da gasolina e calcular o </a:t>
            </a:r>
            <a:r>
              <a:rPr lang="pt-BR" sz="1600" b="1" dirty="0"/>
              <a:t>custo total da viagem</a:t>
            </a:r>
            <a:r>
              <a:rPr lang="pt-BR" sz="1600" dirty="0"/>
              <a:t>. Imprima todas as informações.</a:t>
            </a:r>
          </a:p>
          <a:p>
            <a:br>
              <a:rPr lang="pt-BR" sz="1600" dirty="0"/>
            </a:br>
            <a:endParaRPr lang="pt-BR" sz="1600" dirty="0"/>
          </a:p>
          <a:p>
            <a:r>
              <a:rPr lang="pt-BR" sz="1600" b="1" dirty="0"/>
              <a:t>10. Calculadora de Juros Simples</a:t>
            </a:r>
          </a:p>
          <a:p>
            <a:r>
              <a:rPr lang="pt-BR" sz="1600" dirty="0"/>
              <a:t>Solicite ao usuário o valor do capital inicial, a taxa de juros (em porcentagem) e o tempo do investimento (em anos). Calcule o </a:t>
            </a:r>
            <a:r>
              <a:rPr lang="pt-BR" sz="1600" b="1" dirty="0"/>
              <a:t>valor do juro simples</a:t>
            </a:r>
            <a:r>
              <a:rPr lang="pt-BR" sz="1600" dirty="0"/>
              <a:t> (J=</a:t>
            </a:r>
            <a:r>
              <a:rPr lang="pt-BR" sz="1600" dirty="0" err="1"/>
              <a:t>capital∗taxa∗tempo</a:t>
            </a:r>
            <a:r>
              <a:rPr lang="pt-BR" sz="1600" dirty="0"/>
              <a:t>) e o montante final (M=</a:t>
            </a:r>
            <a:r>
              <a:rPr lang="pt-BR" sz="1600" dirty="0" err="1"/>
              <a:t>capital+juros</a:t>
            </a:r>
            <a:r>
              <a:rPr lang="pt-BR" sz="1600" dirty="0"/>
              <a:t>). Exiba ambos os resultados.</a:t>
            </a:r>
          </a:p>
          <a:p>
            <a:pPr>
              <a:lnSpc>
                <a:spcPct val="200000"/>
              </a:lnSpc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273186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CC0B0C-7076-BDB8-689C-87D28C692EB8}"/>
              </a:ext>
            </a:extLst>
          </p:cNvPr>
          <p:cNvSpPr txBox="1"/>
          <p:nvPr/>
        </p:nvSpPr>
        <p:spPr>
          <a:xfrm>
            <a:off x="342089" y="204123"/>
            <a:ext cx="11507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Estruturas de Decisão?</a:t>
            </a:r>
          </a:p>
          <a:p>
            <a:pPr marL="342900" indent="-342900">
              <a:buAutoNum type="arabicPeriod"/>
            </a:pPr>
            <a:endParaRPr lang="pt-BR" dirty="0"/>
          </a:p>
          <a:p>
            <a:r>
              <a:rPr lang="pt-BR" dirty="0"/>
              <a:t>Estruturas de decisão permitem que um programa escolha diferentes caminhos com base em condições específicas. </a:t>
            </a:r>
          </a:p>
          <a:p>
            <a:r>
              <a:rPr lang="pt-BR" dirty="0"/>
              <a:t>Essas condições são expressões booleanas (verdadeiro ou falso), e com base no resultado, o programa executa diferentes blocos de código.</a:t>
            </a:r>
          </a:p>
          <a:p>
            <a:endParaRPr lang="pt-BR" dirty="0"/>
          </a:p>
          <a:p>
            <a:r>
              <a:rPr lang="pt-BR" sz="2400" b="1" dirty="0">
                <a:solidFill>
                  <a:srgbClr val="FF0000"/>
                </a:solidFill>
              </a:rPr>
              <a:t>Principais Estruturas de Decisão em Python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5E03C7-1818-48A3-C3FA-BA96B8FBBDEE}"/>
              </a:ext>
            </a:extLst>
          </p:cNvPr>
          <p:cNvSpPr txBox="1"/>
          <p:nvPr/>
        </p:nvSpPr>
        <p:spPr>
          <a:xfrm>
            <a:off x="1753816" y="2437338"/>
            <a:ext cx="8684368" cy="42165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Comando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if</a:t>
            </a:r>
            <a:endParaRPr lang="pt-BR" sz="32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pt-BR" sz="2000" dirty="0"/>
          </a:p>
          <a:p>
            <a:pPr lvl="2"/>
            <a:r>
              <a:rPr lang="pt-BR" sz="2400" b="1" dirty="0"/>
              <a:t>Sintaxe:</a:t>
            </a:r>
          </a:p>
          <a:p>
            <a:pPr lvl="2"/>
            <a:r>
              <a:rPr lang="pt-BR" sz="2400" dirty="0"/>
              <a:t>	</a:t>
            </a:r>
            <a:r>
              <a:rPr lang="pt-BR" sz="2400" dirty="0" err="1"/>
              <a:t>if</a:t>
            </a:r>
            <a:r>
              <a:rPr lang="pt-BR" sz="2400" dirty="0"/>
              <a:t> condição:</a:t>
            </a:r>
          </a:p>
          <a:p>
            <a:pPr lvl="2"/>
            <a:r>
              <a:rPr lang="pt-BR" sz="2400" dirty="0"/>
              <a:t>   	      # Bloco de código se a condição for verdadeira</a:t>
            </a:r>
          </a:p>
          <a:p>
            <a:pPr lvl="2"/>
            <a:endParaRPr lang="pt-BR" sz="2400" b="1" dirty="0"/>
          </a:p>
          <a:p>
            <a:pPr lvl="2"/>
            <a:r>
              <a:rPr lang="pt-BR" sz="2400" b="1" dirty="0"/>
              <a:t>Exemplo:</a:t>
            </a:r>
          </a:p>
          <a:p>
            <a:pPr lvl="2"/>
            <a:endParaRPr lang="pt-BR" sz="2400" dirty="0"/>
          </a:p>
          <a:p>
            <a:pPr lvl="2"/>
            <a:r>
              <a:rPr lang="pt-BR" sz="2400" dirty="0"/>
              <a:t>	x = 10</a:t>
            </a:r>
          </a:p>
          <a:p>
            <a:pPr lvl="2"/>
            <a:r>
              <a:rPr lang="pt-BR" sz="2400" dirty="0"/>
              <a:t>	</a:t>
            </a:r>
            <a:r>
              <a:rPr lang="pt-BR" sz="2400" dirty="0" err="1"/>
              <a:t>if</a:t>
            </a:r>
            <a:r>
              <a:rPr lang="pt-BR" sz="2400" dirty="0"/>
              <a:t> x &gt; 5:</a:t>
            </a:r>
          </a:p>
          <a:p>
            <a:pPr lvl="2"/>
            <a:r>
              <a:rPr lang="pt-BR" sz="2400" dirty="0"/>
              <a:t>   	      print("x é maior que 5")</a:t>
            </a:r>
            <a:r>
              <a:rPr lang="pt-BR" dirty="0"/>
              <a:t>	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32705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CC0B0C-7076-BDB8-689C-87D28C692EB8}"/>
              </a:ext>
            </a:extLst>
          </p:cNvPr>
          <p:cNvSpPr txBox="1"/>
          <p:nvPr/>
        </p:nvSpPr>
        <p:spPr>
          <a:xfrm>
            <a:off x="1849876" y="583023"/>
            <a:ext cx="8899188" cy="5509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Comando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if-else</a:t>
            </a:r>
            <a:endParaRPr lang="pt-BR" sz="32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pt-BR" sz="32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pt-BR" sz="2400" dirty="0"/>
              <a:t>Sintaxe:</a:t>
            </a:r>
          </a:p>
          <a:p>
            <a:r>
              <a:rPr lang="pt-BR" sz="2400" dirty="0"/>
              <a:t>      </a:t>
            </a:r>
            <a:r>
              <a:rPr lang="pt-BR" sz="2400" dirty="0" err="1"/>
              <a:t>if</a:t>
            </a:r>
            <a:r>
              <a:rPr lang="pt-BR" sz="2400" dirty="0"/>
              <a:t> condição:</a:t>
            </a:r>
          </a:p>
          <a:p>
            <a:r>
              <a:rPr lang="pt-BR" sz="2400" dirty="0"/>
              <a:t>          # Bloco de código se a condição for verdadeira</a:t>
            </a:r>
          </a:p>
          <a:p>
            <a:r>
              <a:rPr lang="pt-BR" sz="2400" dirty="0"/>
              <a:t>      </a:t>
            </a:r>
            <a:r>
              <a:rPr lang="pt-BR" sz="2400" dirty="0" err="1"/>
              <a:t>else</a:t>
            </a:r>
            <a:r>
              <a:rPr lang="pt-BR" sz="2400" dirty="0"/>
              <a:t>:</a:t>
            </a:r>
          </a:p>
          <a:p>
            <a:r>
              <a:rPr lang="pt-BR" sz="2400" dirty="0"/>
              <a:t>           # Bloco de código se a condição for falsa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r>
              <a:rPr lang="pt-BR" sz="2400" dirty="0"/>
              <a:t>       x = 3</a:t>
            </a:r>
          </a:p>
          <a:p>
            <a:r>
              <a:rPr lang="pt-BR" sz="2400" dirty="0"/>
              <a:t>       </a:t>
            </a:r>
            <a:r>
              <a:rPr lang="pt-BR" sz="2400" dirty="0" err="1"/>
              <a:t>if</a:t>
            </a:r>
            <a:r>
              <a:rPr lang="pt-BR" sz="2400" dirty="0"/>
              <a:t> x &gt; 5:</a:t>
            </a:r>
          </a:p>
          <a:p>
            <a:r>
              <a:rPr lang="pt-BR" sz="2400" dirty="0"/>
              <a:t>          print("x é maior que 5")</a:t>
            </a:r>
          </a:p>
          <a:p>
            <a:r>
              <a:rPr lang="pt-BR" sz="2400" dirty="0"/>
              <a:t>       </a:t>
            </a:r>
            <a:r>
              <a:rPr lang="pt-BR" sz="2400" dirty="0" err="1"/>
              <a:t>else</a:t>
            </a:r>
            <a:r>
              <a:rPr lang="pt-BR" sz="2400" dirty="0"/>
              <a:t>:</a:t>
            </a:r>
          </a:p>
          <a:p>
            <a:r>
              <a:rPr lang="pt-BR" sz="2400" dirty="0"/>
              <a:t>              print("x não é maior que 5")</a:t>
            </a:r>
          </a:p>
        </p:txBody>
      </p:sp>
    </p:spTree>
    <p:extLst>
      <p:ext uri="{BB962C8B-B14F-4D97-AF65-F5344CB8AC3E}">
        <p14:creationId xmlns:p14="http://schemas.microsoft.com/office/powerpoint/2010/main" val="3756638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32905-D9EB-7BDC-F000-ADD55DDE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EF6D7E-6F08-A2A8-B901-031B5B087100}"/>
              </a:ext>
            </a:extLst>
          </p:cNvPr>
          <p:cNvSpPr txBox="1"/>
          <p:nvPr/>
        </p:nvSpPr>
        <p:spPr>
          <a:xfrm>
            <a:off x="1879869" y="461028"/>
            <a:ext cx="8100710" cy="572464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</a:rPr>
              <a:t>Comando </a:t>
            </a:r>
            <a:r>
              <a:rPr lang="pt-BR" sz="2400" b="1" dirty="0" err="1">
                <a:solidFill>
                  <a:schemeClr val="accent6">
                    <a:lumMod val="75000"/>
                  </a:schemeClr>
                </a:solidFill>
              </a:rPr>
              <a:t>if-elif-else</a:t>
            </a:r>
            <a:endParaRPr lang="pt-BR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pt-BR" dirty="0"/>
          </a:p>
          <a:p>
            <a:r>
              <a:rPr lang="pt-BR" dirty="0"/>
              <a:t>Sintaxe: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 condição_1:</a:t>
            </a:r>
          </a:p>
          <a:p>
            <a:r>
              <a:rPr lang="pt-BR" dirty="0"/>
              <a:t>    	   # Bloco de código se a condição_1 for verdadeira</a:t>
            </a:r>
          </a:p>
          <a:p>
            <a:r>
              <a:rPr lang="pt-BR" dirty="0"/>
              <a:t>	</a:t>
            </a:r>
            <a:r>
              <a:rPr lang="pt-BR" dirty="0" err="1"/>
              <a:t>elif</a:t>
            </a:r>
            <a:r>
              <a:rPr lang="pt-BR" dirty="0"/>
              <a:t> condição_2:</a:t>
            </a:r>
          </a:p>
          <a:p>
            <a:r>
              <a:rPr lang="pt-BR" dirty="0"/>
              <a:t>    	   # Bloco de código se a condição_2 for verdadeira</a:t>
            </a:r>
          </a:p>
          <a:p>
            <a:r>
              <a:rPr lang="pt-BR" dirty="0"/>
              <a:t>	</a:t>
            </a:r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	    # Bloco de código se todas as condições forem falsas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 x &gt; 10:</a:t>
            </a:r>
          </a:p>
          <a:p>
            <a:r>
              <a:rPr lang="pt-BR" dirty="0"/>
              <a:t>    	  print("x é maior que 10")</a:t>
            </a:r>
          </a:p>
          <a:p>
            <a:r>
              <a:rPr lang="pt-BR" dirty="0"/>
              <a:t>	</a:t>
            </a:r>
            <a:r>
              <a:rPr lang="pt-BR" dirty="0" err="1"/>
              <a:t>elif</a:t>
            </a:r>
            <a:r>
              <a:rPr lang="pt-BR" dirty="0"/>
              <a:t> x &gt; 5:</a:t>
            </a:r>
          </a:p>
          <a:p>
            <a:r>
              <a:rPr lang="pt-BR" dirty="0"/>
              <a:t>    	   print("x está entre 6 e 10")</a:t>
            </a:r>
          </a:p>
          <a:p>
            <a:r>
              <a:rPr lang="pt-BR" dirty="0"/>
              <a:t>	</a:t>
            </a:r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	   print("x é menor ou igual a 5")</a:t>
            </a:r>
          </a:p>
          <a:p>
            <a:endParaRPr lang="pt-BR" dirty="0"/>
          </a:p>
          <a:p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93316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EA4653B-F603-1740-5501-3CB6B2543312}"/>
              </a:ext>
            </a:extLst>
          </p:cNvPr>
          <p:cNvSpPr txBox="1"/>
          <p:nvPr/>
        </p:nvSpPr>
        <p:spPr>
          <a:xfrm>
            <a:off x="556908" y="-136187"/>
            <a:ext cx="97835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	</a:t>
            </a:r>
          </a:p>
          <a:p>
            <a:r>
              <a:rPr lang="pt-BR" dirty="0"/>
              <a:t>	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Condições combinadas com Operadores Lógicos</a:t>
            </a:r>
          </a:p>
          <a:p>
            <a:endParaRPr lang="pt-BR" dirty="0"/>
          </a:p>
          <a:p>
            <a:pPr lvl="1"/>
            <a:r>
              <a:rPr lang="pt-BR" b="1" dirty="0" err="1"/>
              <a:t>and</a:t>
            </a:r>
            <a:r>
              <a:rPr lang="pt-BR" b="1" dirty="0"/>
              <a:t> (e): todas as condições precisam ser verdadeiras</a:t>
            </a:r>
          </a:p>
          <a:p>
            <a:pPr lvl="1"/>
            <a:r>
              <a:rPr lang="pt-BR" b="1" dirty="0" err="1"/>
              <a:t>or</a:t>
            </a:r>
            <a:r>
              <a:rPr lang="pt-BR" b="1" dirty="0"/>
              <a:t> (ou): apenas uma das condições precisa ser verdadeira</a:t>
            </a:r>
          </a:p>
          <a:p>
            <a:pPr lvl="1"/>
            <a:r>
              <a:rPr lang="pt-BR" b="1" dirty="0" err="1"/>
              <a:t>not</a:t>
            </a:r>
            <a:r>
              <a:rPr lang="pt-BR" b="1" dirty="0"/>
              <a:t> (não): inverte o valor lógico da condição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2653E3D-2BF2-D6EA-1A0A-5ED4CC3AD525}"/>
              </a:ext>
            </a:extLst>
          </p:cNvPr>
          <p:cNvSpPr txBox="1"/>
          <p:nvPr/>
        </p:nvSpPr>
        <p:spPr>
          <a:xfrm>
            <a:off x="1442125" y="2541469"/>
            <a:ext cx="8266080" cy="34163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Exemplos com </a:t>
            </a:r>
            <a:r>
              <a:rPr lang="pt-BR" dirty="0" err="1"/>
              <a:t>and</a:t>
            </a:r>
            <a:r>
              <a:rPr lang="pt-BR" dirty="0"/>
              <a:t>, </a:t>
            </a:r>
            <a:r>
              <a:rPr lang="pt-BR" dirty="0" err="1"/>
              <a:t>or</a:t>
            </a:r>
            <a:r>
              <a:rPr lang="pt-BR" dirty="0"/>
              <a:t> e </a:t>
            </a:r>
            <a:r>
              <a:rPr lang="pt-BR" dirty="0" err="1"/>
              <a:t>not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sz="1800" dirty="0" err="1"/>
              <a:t>if</a:t>
            </a:r>
            <a:r>
              <a:rPr lang="pt-BR" sz="1800" dirty="0"/>
              <a:t> x &lt; 10 </a:t>
            </a:r>
            <a:r>
              <a:rPr lang="pt-BR" sz="1800" b="1" dirty="0" err="1"/>
              <a:t>or</a:t>
            </a:r>
            <a:r>
              <a:rPr lang="pt-BR" sz="1800" dirty="0"/>
              <a:t> y &lt; 10:</a:t>
            </a:r>
          </a:p>
          <a:p>
            <a:r>
              <a:rPr lang="pt-BR" sz="1800" dirty="0"/>
              <a:t>    	    print("Pelo menos um número é menor que 10")</a:t>
            </a:r>
          </a:p>
          <a:p>
            <a:endParaRPr lang="pt-BR" sz="1800" dirty="0"/>
          </a:p>
          <a:p>
            <a:r>
              <a:rPr lang="pt-BR" sz="1800" dirty="0"/>
              <a:t>	x = 15</a:t>
            </a:r>
          </a:p>
          <a:p>
            <a:r>
              <a:rPr lang="pt-BR" sz="1800" dirty="0"/>
              <a:t>	y = 20</a:t>
            </a:r>
          </a:p>
          <a:p>
            <a:r>
              <a:rPr lang="pt-BR" sz="1800" dirty="0"/>
              <a:t>	</a:t>
            </a:r>
            <a:r>
              <a:rPr lang="pt-BR" sz="1800" dirty="0" err="1"/>
              <a:t>if</a:t>
            </a:r>
            <a:r>
              <a:rPr lang="pt-BR" sz="1800" dirty="0"/>
              <a:t> x &gt; 10 </a:t>
            </a:r>
            <a:r>
              <a:rPr lang="pt-BR" sz="1800" b="1" dirty="0" err="1"/>
              <a:t>and</a:t>
            </a:r>
            <a:r>
              <a:rPr lang="pt-BR" sz="1800" b="1" dirty="0"/>
              <a:t> </a:t>
            </a:r>
            <a:r>
              <a:rPr lang="pt-BR" sz="1800" dirty="0"/>
              <a:t>y &gt; 15:</a:t>
            </a:r>
          </a:p>
          <a:p>
            <a:r>
              <a:rPr lang="pt-BR" sz="1800" dirty="0"/>
              <a:t>    	    print("Ambos os números são maiores que seus respectivos limites")</a:t>
            </a:r>
          </a:p>
          <a:p>
            <a:endParaRPr lang="pt-BR" sz="1800" dirty="0"/>
          </a:p>
          <a:p>
            <a:r>
              <a:rPr lang="pt-BR" sz="1800" dirty="0"/>
              <a:t>	</a:t>
            </a:r>
            <a:r>
              <a:rPr lang="pt-BR" sz="1800" dirty="0" err="1"/>
              <a:t>if</a:t>
            </a:r>
            <a:r>
              <a:rPr lang="pt-BR" sz="1800" dirty="0"/>
              <a:t> </a:t>
            </a:r>
            <a:r>
              <a:rPr lang="pt-BR" sz="1800" b="1" dirty="0" err="1"/>
              <a:t>not</a:t>
            </a:r>
            <a:r>
              <a:rPr lang="pt-BR" sz="1800" dirty="0"/>
              <a:t> (x == y):</a:t>
            </a:r>
          </a:p>
          <a:p>
            <a:r>
              <a:rPr lang="pt-BR" sz="1800" dirty="0"/>
              <a:t>   	    print("Os números são diferentes")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56162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CC0B0C-7076-BDB8-689C-87D28C692EB8}"/>
              </a:ext>
            </a:extLst>
          </p:cNvPr>
          <p:cNvSpPr txBox="1"/>
          <p:nvPr/>
        </p:nvSpPr>
        <p:spPr>
          <a:xfrm>
            <a:off x="428017" y="1303506"/>
            <a:ext cx="1150782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Condicionais em Uma Linha (</a:t>
            </a:r>
            <a:r>
              <a:rPr lang="pt-BR" sz="2400" b="1" dirty="0" err="1">
                <a:solidFill>
                  <a:srgbClr val="FF0000"/>
                </a:solidFill>
              </a:rPr>
              <a:t>if</a:t>
            </a:r>
            <a:r>
              <a:rPr lang="pt-BR" sz="2400" b="1" dirty="0">
                <a:solidFill>
                  <a:srgbClr val="FF0000"/>
                </a:solidFill>
              </a:rPr>
              <a:t> Ternário)</a:t>
            </a:r>
          </a:p>
          <a:p>
            <a:endParaRPr lang="pt-BR" sz="2400" dirty="0">
              <a:solidFill>
                <a:srgbClr val="FF0000"/>
              </a:solidFill>
            </a:endParaRPr>
          </a:p>
          <a:p>
            <a:r>
              <a:rPr lang="pt-BR" dirty="0"/>
              <a:t>Python também permite escrever condicionais em uma única linha usando o operador ternário.</a:t>
            </a:r>
          </a:p>
          <a:p>
            <a:endParaRPr lang="pt-BR" dirty="0"/>
          </a:p>
          <a:p>
            <a:pPr lvl="1"/>
            <a:r>
              <a:rPr lang="pt-BR" b="1" dirty="0"/>
              <a:t>Sintaxe:</a:t>
            </a:r>
          </a:p>
          <a:p>
            <a:pPr lvl="1"/>
            <a:r>
              <a:rPr lang="pt-BR" dirty="0"/>
              <a:t>	</a:t>
            </a:r>
            <a:r>
              <a:rPr lang="pt-BR" dirty="0" err="1"/>
              <a:t>valor_se_verdadeiro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condição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valor_se_falso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B09655-6B0B-F461-3C03-D93A626A9065}"/>
              </a:ext>
            </a:extLst>
          </p:cNvPr>
          <p:cNvSpPr txBox="1"/>
          <p:nvPr/>
        </p:nvSpPr>
        <p:spPr>
          <a:xfrm>
            <a:off x="2123061" y="3523169"/>
            <a:ext cx="8314718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pt-BR" b="1" dirty="0"/>
              <a:t>Exemplo: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	idade = 18</a:t>
            </a:r>
          </a:p>
          <a:p>
            <a:pPr lvl="1"/>
            <a:r>
              <a:rPr lang="pt-BR" dirty="0"/>
              <a:t>	resultado = "Maior de idade" </a:t>
            </a:r>
            <a:r>
              <a:rPr lang="pt-BR" dirty="0" err="1"/>
              <a:t>if</a:t>
            </a:r>
            <a:r>
              <a:rPr lang="pt-BR" dirty="0"/>
              <a:t> idade &gt;= 18 </a:t>
            </a:r>
            <a:r>
              <a:rPr lang="pt-BR" dirty="0" err="1"/>
              <a:t>else</a:t>
            </a:r>
            <a:r>
              <a:rPr lang="pt-BR" dirty="0"/>
              <a:t> "Menor de idade"</a:t>
            </a:r>
          </a:p>
          <a:p>
            <a:pPr lvl="1"/>
            <a:r>
              <a:rPr lang="pt-BR" dirty="0"/>
              <a:t>	print(resultado)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857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F649-F1BB-C422-1D9F-6B3005AE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0CC469-74EF-02C4-1772-720A95FCD773}"/>
              </a:ext>
            </a:extLst>
          </p:cNvPr>
          <p:cNvSpPr txBox="1"/>
          <p:nvPr/>
        </p:nvSpPr>
        <p:spPr>
          <a:xfrm>
            <a:off x="262647" y="126459"/>
            <a:ext cx="1150782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Estruturas de Decisão Aninhadas</a:t>
            </a:r>
          </a:p>
          <a:p>
            <a:endParaRPr lang="pt-BR" sz="2400" b="1" dirty="0">
              <a:solidFill>
                <a:srgbClr val="FF0000"/>
              </a:solidFill>
            </a:endParaRPr>
          </a:p>
          <a:p>
            <a:r>
              <a:rPr lang="pt-BR" dirty="0"/>
              <a:t>Estruturas de decisão podem ser aninhadas, ou seja, uma condição pode conter outra estrutura </a:t>
            </a:r>
            <a:r>
              <a:rPr lang="pt-BR" dirty="0" err="1"/>
              <a:t>if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5D4DC9-7F6D-F75D-C4EA-C31E277CB718}"/>
              </a:ext>
            </a:extLst>
          </p:cNvPr>
          <p:cNvSpPr txBox="1"/>
          <p:nvPr/>
        </p:nvSpPr>
        <p:spPr>
          <a:xfrm>
            <a:off x="1510217" y="1944097"/>
            <a:ext cx="6855569" cy="230832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Exemplo:</a:t>
            </a:r>
          </a:p>
          <a:p>
            <a:r>
              <a:rPr lang="pt-BR" dirty="0"/>
              <a:t>	x = 8</a:t>
            </a:r>
          </a:p>
          <a:p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 x &gt; 5:</a:t>
            </a:r>
          </a:p>
          <a:p>
            <a:r>
              <a:rPr lang="pt-BR" dirty="0"/>
              <a:t>   		</a:t>
            </a:r>
            <a:r>
              <a:rPr lang="pt-BR" dirty="0" err="1"/>
              <a:t>if</a:t>
            </a:r>
            <a:r>
              <a:rPr lang="pt-BR" dirty="0"/>
              <a:t> x % 2 == 0:</a:t>
            </a:r>
          </a:p>
          <a:p>
            <a:r>
              <a:rPr lang="pt-BR" dirty="0"/>
              <a:t>        	  	   print("x é maior que 5 e é par")</a:t>
            </a:r>
          </a:p>
          <a:p>
            <a:r>
              <a:rPr lang="pt-BR" dirty="0"/>
              <a:t>    		</a:t>
            </a:r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    	     	   print("x é maior que 5 e é ímpar")</a:t>
            </a:r>
          </a:p>
          <a:p>
            <a:r>
              <a:rPr lang="pt-B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660058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4098C82-C428-C3E3-FB5C-A3DFDDB31213}"/>
              </a:ext>
            </a:extLst>
          </p:cNvPr>
          <p:cNvSpPr txBox="1"/>
          <p:nvPr/>
        </p:nvSpPr>
        <p:spPr>
          <a:xfrm>
            <a:off x="554476" y="1166843"/>
            <a:ext cx="1163752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</a:rPr>
              <a:t>Considerações Importantes</a:t>
            </a:r>
          </a:p>
          <a:p>
            <a:endParaRPr lang="pt-BR" dirty="0"/>
          </a:p>
          <a:p>
            <a:r>
              <a:rPr lang="pt-BR" sz="3200" dirty="0">
                <a:solidFill>
                  <a:srgbClr val="FF0000"/>
                </a:solidFill>
              </a:rPr>
              <a:t>Indentação:</a:t>
            </a:r>
            <a:r>
              <a:rPr lang="pt-BR" sz="2000" dirty="0"/>
              <a:t> </a:t>
            </a:r>
            <a:r>
              <a:rPr lang="pt-BR" dirty="0"/>
              <a:t>Python utiliza indentação para definir blocos de código, por isso é fundamental que a indentação  seja consistente em estruturas condicionais.</a:t>
            </a:r>
          </a:p>
          <a:p>
            <a:endParaRPr lang="pt-BR" dirty="0"/>
          </a:p>
          <a:p>
            <a:r>
              <a:rPr lang="pt-BR" sz="2800" b="1" dirty="0">
                <a:solidFill>
                  <a:srgbClr val="FF0000"/>
                </a:solidFill>
              </a:rPr>
              <a:t>Legibilidade:</a:t>
            </a:r>
            <a:r>
              <a:rPr lang="pt-BR" sz="2400" dirty="0">
                <a:solidFill>
                  <a:srgbClr val="FF0000"/>
                </a:solidFill>
              </a:rPr>
              <a:t> </a:t>
            </a:r>
            <a:r>
              <a:rPr lang="pt-BR" dirty="0"/>
              <a:t>Embora seja possível aninhar várias condições, é importante prezar pela clareza e legibilidade do código.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5341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78906" y="-282102"/>
            <a:ext cx="10986448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EXEMPLOS:</a:t>
            </a:r>
          </a:p>
          <a:p>
            <a:endParaRPr lang="pt-BR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pt-BR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1. Verificação de Número Par ou Ímpar:</a:t>
            </a:r>
            <a:endParaRPr lang="pt-BR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2"/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numero =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int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(input("Digite um número: "))</a:t>
            </a:r>
          </a:p>
          <a:p>
            <a:pPr lvl="2"/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if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 numero % 2 == 0:</a:t>
            </a:r>
          </a:p>
          <a:p>
            <a:pPr lvl="2"/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   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print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("O número é par.")</a:t>
            </a:r>
          </a:p>
          <a:p>
            <a:pPr lvl="2"/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else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:</a:t>
            </a:r>
          </a:p>
          <a:p>
            <a:pPr lvl="2"/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   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print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("O número é ímpar.")</a:t>
            </a:r>
          </a:p>
          <a:p>
            <a:endParaRPr lang="pt" sz="24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endParaRPr lang="pt" sz="24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r>
              <a:rPr lang="pt-BR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2. Verificação de Maior Idade:</a:t>
            </a:r>
            <a:endParaRPr lang="pt-BR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endParaRPr lang="pt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2"/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idade =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int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(input("Digite a sua idade: "))</a:t>
            </a:r>
          </a:p>
          <a:p>
            <a:pPr lvl="2"/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if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 idade &gt;= 18:</a:t>
            </a:r>
          </a:p>
          <a:p>
            <a:pPr lvl="2"/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   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print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("Você é maior de idade.")</a:t>
            </a:r>
          </a:p>
          <a:p>
            <a:pPr lvl="2"/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</a:rPr>
              <a:t>else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:</a:t>
            </a:r>
          </a:p>
          <a:p>
            <a:pPr lvl="2"/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</a:rPr>
              <a:t>    print("Você é menor de idade.")</a:t>
            </a:r>
            <a:endParaRPr lang="pt" sz="14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1298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733E-53A9-B652-C855-9439B3BB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4DE8CF7-EBBA-0699-BD30-F137726A45AB}"/>
              </a:ext>
            </a:extLst>
          </p:cNvPr>
          <p:cNvSpPr/>
          <p:nvPr/>
        </p:nvSpPr>
        <p:spPr>
          <a:xfrm>
            <a:off x="327545" y="0"/>
            <a:ext cx="10986448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EXEMPLOS:</a:t>
            </a:r>
          </a:p>
          <a:p>
            <a:endParaRPr lang="pt-BR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3. Cálculo de Desconto:</a:t>
            </a:r>
            <a:endParaRPr lang="pt-BR" sz="16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endParaRPr lang="pt" sz="14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2"/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valor_compra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=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float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(input("Digite o valor da compra: "))</a:t>
            </a:r>
          </a:p>
          <a:p>
            <a:pPr lvl="2"/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if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valor_compra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&gt;= 100: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 desconto =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valor_compra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* 0.1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valor_com_desconto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=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valor_compra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- desconto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print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(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f"Valor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com desconto: R${valor_com_desconto:.2f}")</a:t>
            </a:r>
          </a:p>
          <a:p>
            <a:pPr lvl="2"/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else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: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 print("Sem direito a desconto.")</a:t>
            </a:r>
          </a:p>
          <a:p>
            <a:pPr lvl="2"/>
            <a:endParaRPr lang="pt-BR" sz="14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endParaRPr lang="pt-BR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4. Verificação de Nota:</a:t>
            </a:r>
            <a:endParaRPr lang="pt-BR" sz="16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1"/>
            <a:endParaRPr lang="pt" sz="16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nota =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float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(input("Digite a nota do aluno: "))</a:t>
            </a:r>
          </a:p>
          <a:p>
            <a:pPr lvl="2"/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if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nota &gt;= 7: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   print("Aluno aprovado!")</a:t>
            </a:r>
          </a:p>
          <a:p>
            <a:pPr lvl="2"/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else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: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   print("Aluno reprovado.")</a:t>
            </a:r>
            <a:endParaRPr lang="pt" sz="14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521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91319" y="996106"/>
            <a:ext cx="117752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pt" sz="16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1"/>
            <a:endParaRPr lang="pt" sz="16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1"/>
            <a:endParaRPr lang="pt" sz="16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r>
              <a:rPr lang="pt-BR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5. Classificação de Triângulos:</a:t>
            </a:r>
          </a:p>
          <a:p>
            <a:endParaRPr lang="pt" sz="20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lado1 =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float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(input("Digite o comprimento do primeiro lado: "))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lado2 =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float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(input("Digite o comprimento do segundo lado: "))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lado3 =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float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(input("Digite o comprimento do terceiro lado: "))</a:t>
            </a:r>
          </a:p>
          <a:p>
            <a:pPr lvl="2"/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if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lado1 == lado2 == lado3: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  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print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("Triângulo equilátero (todos os lados iguais).")</a:t>
            </a:r>
          </a:p>
          <a:p>
            <a:pPr lvl="2"/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elif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lado1 == lado2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or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lado1 == lado3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or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lado2 == lado3: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  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print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("Triângulo isósceles (dois lados iguais).")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 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else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:</a:t>
            </a:r>
          </a:p>
          <a:p>
            <a:pPr lvl="2"/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     print("Triângulo escaleno (todos os lados diferentes).")</a:t>
            </a:r>
          </a:p>
        </p:txBody>
      </p:sp>
      <p:sp>
        <p:nvSpPr>
          <p:cNvPr id="3" name="Retângulo 2"/>
          <p:cNvSpPr/>
          <p:nvPr/>
        </p:nvSpPr>
        <p:spPr>
          <a:xfrm>
            <a:off x="732127" y="514782"/>
            <a:ext cx="26250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EXEMPLOS:</a:t>
            </a:r>
          </a:p>
        </p:txBody>
      </p:sp>
    </p:spTree>
    <p:extLst>
      <p:ext uri="{BB962C8B-B14F-4D97-AF65-F5344CB8AC3E}">
        <p14:creationId xmlns:p14="http://schemas.microsoft.com/office/powerpoint/2010/main" val="3870328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99DDA47-0588-AF9C-3727-E5550F2CD523}"/>
              </a:ext>
            </a:extLst>
          </p:cNvPr>
          <p:cNvSpPr txBox="1"/>
          <p:nvPr/>
        </p:nvSpPr>
        <p:spPr>
          <a:xfrm>
            <a:off x="175098" y="359923"/>
            <a:ext cx="11663463" cy="6325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1" i="0" dirty="0">
                <a:solidFill>
                  <a:srgbClr val="FF0000"/>
                </a:solidFill>
                <a:effectLst/>
                <a:latin typeface="Abadi" panose="020B0604020104020204" pitchFamily="34" charset="0"/>
              </a:rPr>
              <a:t>EXERCICIO 14 – Elaborar Programas em Python para :</a:t>
            </a:r>
          </a:p>
          <a:p>
            <a:pPr marL="0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1 -  Pedir dois números e imprima o maior deles.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0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2 - Ler três números e mostre o maior deles.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0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3 - Ler três números e mostre o maior e o menor deles.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0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4 – Ler duas notas parciais de um aluno. O programa deve calcular a média alcançada por aluno e apresentar: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740664" indent="-283464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A mensagem "Aprovado", se a média alcançada for maior ou igual a sete;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740664" indent="-283464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A mensagem "Reprovado", se a média for menor do que sete;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740664" indent="-283464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A mensagem "Aprovado com Distinção", se a média for igual a dez.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0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5 - Ler os preços de três produtos e informar qual produto você deve comprar, sabendo que a decisão é sempre pelo mais barato.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  <a:p>
            <a:pPr marL="0" algn="l" rtl="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6 - Ler três números e mostrando-os em ordem decrescente.</a:t>
            </a:r>
          </a:p>
          <a:p>
            <a:pPr>
              <a:lnSpc>
                <a:spcPct val="150000"/>
              </a:lnSpc>
            </a:pPr>
            <a:r>
              <a:rPr lang="pt-BR" dirty="0"/>
              <a:t>7 – Perguntar em que turno você estuda. Peça para digitar </a:t>
            </a:r>
            <a:r>
              <a:rPr lang="pt-BR" dirty="0" err="1"/>
              <a:t>M-matutino</a:t>
            </a:r>
            <a:r>
              <a:rPr lang="pt-BR" dirty="0"/>
              <a:t> ou </a:t>
            </a:r>
            <a:r>
              <a:rPr lang="pt-BR" dirty="0" err="1"/>
              <a:t>V-Vespertino</a:t>
            </a:r>
            <a:r>
              <a:rPr lang="pt-BR" dirty="0"/>
              <a:t> ou N- Noturno. Imprima a mensagem "Bom Dia!", "Boa Tarde!" ou "Boa Noite!" ou "Valor Inválido!", conforme o caso.</a:t>
            </a:r>
          </a:p>
          <a:p>
            <a:pPr>
              <a:lnSpc>
                <a:spcPct val="150000"/>
              </a:lnSpc>
            </a:pPr>
            <a:r>
              <a:rPr lang="pt-BR" dirty="0"/>
              <a:t>8 – Ler um número e exiba o dia correspondente da semana. (1-Domingo, 2- Segunda, etc.), se digitar outro valor deve aparecer valor inválido.</a:t>
            </a:r>
            <a:endParaRPr lang="pt-BR" b="0" i="0" dirty="0">
              <a:solidFill>
                <a:srgbClr val="333333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1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95943" y="0"/>
            <a:ext cx="1180011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Exercícios 14  (cont.)  – Elabore os seguintes programas em Python para:</a:t>
            </a:r>
          </a:p>
          <a:p>
            <a:r>
              <a:rPr lang="pt-BR" dirty="0"/>
              <a:t> </a:t>
            </a:r>
          </a:p>
          <a:p>
            <a:r>
              <a:rPr lang="pt-BR" sz="1600" dirty="0"/>
              <a:t>9 – Permitir que as Organizações Tabajara deem um aumento de salário aos seus colaboradores.</a:t>
            </a:r>
          </a:p>
          <a:p>
            <a:endParaRPr lang="pt-BR" sz="1600" dirty="0"/>
          </a:p>
          <a:p>
            <a:r>
              <a:rPr lang="pt-BR" sz="1600" dirty="0"/>
              <a:t>     O programa recebe o salário de um colaborador e  calcula o reajuste segundo o seguinte critério, baseado no salário atual: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salários até R$ 280,00 (incluindo) : aumento de 20%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salários entre R$ 280,00 e R$ 700,00 : aumento de 15%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salários entre R$ 700,00 e R$ 1500,00 : aumento de 10%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salários de R$ 1500,00 em diante : aumento de 5% </a:t>
            </a:r>
          </a:p>
          <a:p>
            <a:pPr marL="273050" lvl="3"/>
            <a:r>
              <a:rPr lang="pt-BR" sz="1600" dirty="0"/>
              <a:t>Após dar o  aumento ser realizado, informe na tela: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o salário antes do reajuste;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o percentual de aumento aplicado;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o valor do aumento;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o novo salário, após o aumento.</a:t>
            </a:r>
          </a:p>
          <a:p>
            <a:pPr lvl="3"/>
            <a:endParaRPr lang="pt-BR" sz="1600" dirty="0"/>
          </a:p>
          <a:p>
            <a:r>
              <a:rPr lang="pt-BR" sz="1600" dirty="0"/>
              <a:t>10 – Ler as duas notas parciais obtidas por um aluno numa disciplina ao longo de um semestre, e calcule a sua </a:t>
            </a:r>
          </a:p>
          <a:p>
            <a:r>
              <a:rPr lang="pt-BR" sz="1600" dirty="0"/>
              <a:t>        média. A atribuição de conceitos obedece à tabela abaixo:</a:t>
            </a:r>
          </a:p>
          <a:p>
            <a:pPr lvl="2"/>
            <a:r>
              <a:rPr lang="pt-BR" sz="1600" dirty="0"/>
              <a:t>  Média de Aproveitamento  		Conceito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  Entre 9.0 e 10.0        		      A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  Entre 7.5 e 9.0         		      B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  Entre 6.0 e 7.5         		      C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  Entre 4.0 e 6.0       		      D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BR" sz="1600" dirty="0"/>
              <a:t>  Entre 4.0 e zero       		      E</a:t>
            </a:r>
          </a:p>
          <a:p>
            <a:r>
              <a:rPr lang="pt-BR" sz="1600" dirty="0"/>
              <a:t>       O programa deve mostrar na tela as notas, a média, o conceito correspondente e a mensagem “APROVADO” se o </a:t>
            </a:r>
          </a:p>
          <a:p>
            <a:r>
              <a:rPr lang="pt-BR" sz="1600" dirty="0"/>
              <a:t>        conceito for A, B ou C ou “REPROVADO” se o conceito for D ou 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5157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B90C70C-4E23-E347-DBD3-92327CCC1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16144"/>
            <a:ext cx="10905066" cy="42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579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7A1F252E-28D1-C559-22F5-A1F94CA09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72" y="1451260"/>
            <a:ext cx="11157625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O que são Listas?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Ela funciona como um contêiner que pode armazenar múltiplos itens em uma única variável.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dirty="0">
                <a:latin typeface="Abadi" panose="020B0604020104020204" pitchFamily="34" charset="0"/>
              </a:rPr>
              <a:t>Em Python, uma lista funciona de maneira similar: ela é uma </a:t>
            </a:r>
            <a:r>
              <a:rPr lang="pt-BR" altLang="pt-BR" b="1" dirty="0">
                <a:latin typeface="Abadi" panose="020B0604020104020204" pitchFamily="34" charset="0"/>
              </a:rPr>
              <a:t>coleção ordenada</a:t>
            </a:r>
            <a:r>
              <a:rPr lang="pt-BR" altLang="pt-BR" dirty="0">
                <a:latin typeface="Abadi" panose="020B0604020104020204" pitchFamily="34" charset="0"/>
              </a:rPr>
              <a:t> de itens.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badi" panose="020B0604020104020204" pitchFamily="34" charset="0"/>
              </a:rPr>
              <a:t>Imagine uma lista de compras, uma lista de convidados para uma festa ou uma lista de seus filmes favoritos.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dirty="0">
              <a:latin typeface="Abadi" panose="020B06040201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badi" panose="020B0604020104020204" pitchFamily="34" charset="0"/>
              </a:rPr>
              <a:t>Esses itens podem ser de diferentes tipos (números, </a:t>
            </a:r>
            <a:r>
              <a:rPr lang="pt-BR" altLang="pt-BR" dirty="0" err="1">
                <a:latin typeface="Abadi" panose="020B0604020104020204" pitchFamily="34" charset="0"/>
              </a:rPr>
              <a:t>strings</a:t>
            </a:r>
            <a:r>
              <a:rPr lang="pt-BR" altLang="pt-BR" dirty="0">
                <a:latin typeface="Abadi" panose="020B0604020104020204" pitchFamily="34" charset="0"/>
              </a:rPr>
              <a:t>, booleanos, e até mesmo outras listas!).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dirty="0">
              <a:latin typeface="Abadi" panose="020B06040201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dirty="0">
              <a:latin typeface="Abadi" panose="020B06040201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badi" panose="020B0604020104020204" pitchFamily="34" charset="0"/>
              </a:rPr>
              <a:t>As listas são </a:t>
            </a:r>
            <a:r>
              <a:rPr lang="pt-BR" altLang="pt-BR" b="1" dirty="0">
                <a:latin typeface="Abadi" panose="020B0604020104020204" pitchFamily="34" charset="0"/>
              </a:rPr>
              <a:t>mutáveis</a:t>
            </a:r>
            <a:r>
              <a:rPr lang="pt-BR" altLang="pt-BR" dirty="0">
                <a:latin typeface="Abadi" panose="020B0604020104020204" pitchFamily="34" charset="0"/>
              </a:rPr>
              <a:t>, o que significa que podemos adicionar, remover e</a:t>
            </a:r>
            <a:r>
              <a:rPr lang="pt-BR" altLang="pt-BR" baseline="30000" dirty="0">
                <a:latin typeface="Abadi" panose="020B0604020104020204" pitchFamily="34" charset="0"/>
              </a:rPr>
              <a:t>  </a:t>
            </a:r>
            <a:r>
              <a:rPr lang="pt-BR" altLang="pt-BR" dirty="0">
                <a:latin typeface="Abadi" panose="020B0604020104020204" pitchFamily="34" charset="0"/>
              </a:rPr>
              <a:t>alterar seus elementos após a criação.</a:t>
            </a:r>
            <a:r>
              <a:rPr lang="pt-BR" altLang="pt-BR" baseline="30000" dirty="0">
                <a:latin typeface="Abadi" panose="020B060402010402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baseline="30000" dirty="0">
              <a:latin typeface="Abadi" panose="020B06040201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dirty="0">
              <a:latin typeface="Abadi" panose="020B06040201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badi" panose="020B0604020104020204" pitchFamily="34" charset="0"/>
              </a:rPr>
              <a:t>Elas são definidas utilizando </a:t>
            </a:r>
            <a:r>
              <a:rPr lang="pt-BR" altLang="pt-BR" b="1" dirty="0">
                <a:latin typeface="Abadi" panose="020B0604020104020204" pitchFamily="34" charset="0"/>
              </a:rPr>
              <a:t>colchetes </a:t>
            </a:r>
            <a:r>
              <a:rPr lang="pt-BR" altLang="pt-BR" dirty="0">
                <a:latin typeface="Abadi" panose="020B0604020104020204" pitchFamily="34" charset="0"/>
              </a:rPr>
              <a:t>[] e os itens dentro da lista são separados por </a:t>
            </a:r>
            <a:r>
              <a:rPr lang="pt-BR" altLang="pt-BR" b="1" dirty="0">
                <a:latin typeface="Abadi" panose="020B0604020104020204" pitchFamily="34" charset="0"/>
              </a:rPr>
              <a:t>vírgulas ,</a:t>
            </a:r>
            <a:endParaRPr lang="pt-BR" altLang="pt-BR" dirty="0">
              <a:latin typeface="Abadi" panose="020B0604020104020204" pitchFamily="34" charset="0"/>
            </a:endParaRPr>
          </a:p>
          <a:p>
            <a:endParaRPr lang="pt-BR" dirty="0"/>
          </a:p>
          <a:p>
            <a:endParaRPr lang="pt-B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92492B-376F-40A5-5E9F-97F86E30229E}"/>
              </a:ext>
            </a:extLst>
          </p:cNvPr>
          <p:cNvSpPr txBox="1"/>
          <p:nvPr/>
        </p:nvSpPr>
        <p:spPr>
          <a:xfrm>
            <a:off x="2649976" y="61483"/>
            <a:ext cx="6094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altLang="pt-BR" sz="5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Listas</a:t>
            </a:r>
            <a:endParaRPr lang="pt-BR" sz="5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255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B62E52A-BA3A-904A-7399-56ED45F5D173}"/>
              </a:ext>
            </a:extLst>
          </p:cNvPr>
          <p:cNvSpPr txBox="1"/>
          <p:nvPr/>
        </p:nvSpPr>
        <p:spPr>
          <a:xfrm>
            <a:off x="605546" y="1307895"/>
            <a:ext cx="106979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# Uma lista de números inteiros </a:t>
            </a:r>
          </a:p>
          <a:p>
            <a:r>
              <a:rPr lang="pt-BR" sz="2400" dirty="0" err="1"/>
              <a:t>numeros</a:t>
            </a:r>
            <a:r>
              <a:rPr lang="pt-BR" sz="2400" dirty="0"/>
              <a:t> = [1, 2, 3, 4, 5] 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numeros</a:t>
            </a:r>
            <a:r>
              <a:rPr lang="pt-BR" sz="2400" dirty="0"/>
              <a:t>) </a:t>
            </a:r>
          </a:p>
          <a:p>
            <a:endParaRPr lang="pt-BR" sz="2400" dirty="0"/>
          </a:p>
          <a:p>
            <a:r>
              <a:rPr lang="pt-BR" sz="2400" dirty="0"/>
              <a:t># Uma lista de </a:t>
            </a:r>
            <a:r>
              <a:rPr lang="pt-BR" sz="2400" dirty="0" err="1"/>
              <a:t>strings</a:t>
            </a:r>
            <a:r>
              <a:rPr lang="pt-BR" sz="2400" dirty="0"/>
              <a:t> </a:t>
            </a:r>
          </a:p>
          <a:p>
            <a:r>
              <a:rPr lang="pt-BR" sz="2400" dirty="0"/>
              <a:t>frutas = ["maçã", "banana", "laranja"] </a:t>
            </a:r>
          </a:p>
          <a:p>
            <a:r>
              <a:rPr lang="pt-BR" sz="2400" dirty="0"/>
              <a:t>print(frutas) </a:t>
            </a:r>
          </a:p>
          <a:p>
            <a:endParaRPr lang="pt-BR" sz="2400" dirty="0"/>
          </a:p>
          <a:p>
            <a:r>
              <a:rPr lang="pt-BR" sz="2400" dirty="0"/>
              <a:t># Uma lista com diferentes tipos de dados</a:t>
            </a:r>
          </a:p>
          <a:p>
            <a:r>
              <a:rPr lang="pt-BR" sz="2400" dirty="0"/>
              <a:t> mista = [10, "olá", 3.14, </a:t>
            </a:r>
            <a:r>
              <a:rPr lang="pt-BR" sz="2400" dirty="0" err="1"/>
              <a:t>True</a:t>
            </a:r>
            <a:r>
              <a:rPr lang="pt-BR" sz="2400" dirty="0"/>
              <a:t>] </a:t>
            </a:r>
          </a:p>
          <a:p>
            <a:r>
              <a:rPr lang="pt-BR" sz="2400" dirty="0"/>
              <a:t>print(mista) </a:t>
            </a:r>
          </a:p>
          <a:p>
            <a:endParaRPr lang="pt-BR" sz="2400" dirty="0"/>
          </a:p>
          <a:p>
            <a:r>
              <a:rPr lang="pt-BR" sz="2400" dirty="0"/>
              <a:t># Uma lista vazia </a:t>
            </a:r>
            <a:r>
              <a:rPr lang="pt-BR" sz="2400" dirty="0" err="1"/>
              <a:t>vazia</a:t>
            </a:r>
            <a:r>
              <a:rPr lang="pt-BR" sz="2400" dirty="0"/>
              <a:t> = [] </a:t>
            </a:r>
          </a:p>
          <a:p>
            <a:r>
              <a:rPr lang="pt-BR" sz="2400" dirty="0"/>
              <a:t>print(vazia)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8DBD9E-D63D-876B-C3F1-92259FCEB9A4}"/>
              </a:ext>
            </a:extLst>
          </p:cNvPr>
          <p:cNvSpPr txBox="1"/>
          <p:nvPr/>
        </p:nvSpPr>
        <p:spPr>
          <a:xfrm>
            <a:off x="227787" y="219032"/>
            <a:ext cx="8877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Exemplos de Listas</a:t>
            </a:r>
            <a:endParaRPr lang="pt-BR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568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9843F10-6A8F-4113-2495-C32B4C45EEA0}"/>
              </a:ext>
            </a:extLst>
          </p:cNvPr>
          <p:cNvSpPr txBox="1"/>
          <p:nvPr/>
        </p:nvSpPr>
        <p:spPr>
          <a:xfrm>
            <a:off x="848737" y="251006"/>
            <a:ext cx="1089254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Criando uma Lista</a:t>
            </a:r>
          </a:p>
          <a:p>
            <a:pPr>
              <a:buNone/>
            </a:pPr>
            <a:endParaRPr lang="pt-BR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Para criar uma lista, basta usar colchetes </a:t>
            </a:r>
            <a:r>
              <a:rPr lang="pt-BR" dirty="0">
                <a:latin typeface="Courier New" panose="02070309020205020404" pitchFamily="49" charset="0"/>
              </a:rPr>
              <a:t>[]</a:t>
            </a:r>
            <a:r>
              <a:rPr lang="pt-BR" dirty="0"/>
              <a:t> e separar os itens com vírgulas.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Exemplo: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5E280F-2D97-CFFA-2B68-E4EBF4396B91}"/>
              </a:ext>
            </a:extLst>
          </p:cNvPr>
          <p:cNvSpPr txBox="1"/>
          <p:nvPr/>
        </p:nvSpPr>
        <p:spPr>
          <a:xfrm>
            <a:off x="2307887" y="2362386"/>
            <a:ext cx="6094378" cy="304698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/>
              <a:t># Lista com </a:t>
            </a:r>
            <a:r>
              <a:rPr lang="pt-BR" sz="2400" dirty="0" err="1"/>
              <a:t>strings</a:t>
            </a:r>
            <a:endParaRPr lang="pt-BR" sz="2400" dirty="0"/>
          </a:p>
          <a:p>
            <a:r>
              <a:rPr lang="pt-BR" sz="2400" dirty="0"/>
              <a:t>frutas = ["maçã", "banana", "cereja"]</a:t>
            </a:r>
          </a:p>
          <a:p>
            <a:endParaRPr lang="pt-BR" sz="2400" dirty="0"/>
          </a:p>
          <a:p>
            <a:r>
              <a:rPr lang="pt-BR" sz="2400" dirty="0"/>
              <a:t># Lista com números</a:t>
            </a:r>
          </a:p>
          <a:p>
            <a:r>
              <a:rPr lang="pt-BR" sz="2400" dirty="0" err="1"/>
              <a:t>numeros</a:t>
            </a:r>
            <a:r>
              <a:rPr lang="pt-BR" sz="2400" dirty="0"/>
              <a:t> = [1, 5, 9, 23]</a:t>
            </a:r>
          </a:p>
          <a:p>
            <a:endParaRPr lang="pt-BR" sz="2400" dirty="0"/>
          </a:p>
          <a:p>
            <a:r>
              <a:rPr lang="pt-BR" sz="2400" dirty="0"/>
              <a:t># Lista com tipos de dados mistos</a:t>
            </a:r>
          </a:p>
          <a:p>
            <a:r>
              <a:rPr lang="pt-BR" sz="2400" dirty="0" err="1"/>
              <a:t>dados_pessoais</a:t>
            </a:r>
            <a:r>
              <a:rPr lang="pt-BR" sz="2400" dirty="0"/>
              <a:t> = ["João", 25, 1.75, </a:t>
            </a:r>
            <a:r>
              <a:rPr lang="pt-BR" sz="2400" dirty="0" err="1"/>
              <a:t>True</a:t>
            </a:r>
            <a:r>
              <a:rPr lang="pt-BR" sz="2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94746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DA682A5-66AF-70D0-8563-C3064730DAFA}"/>
              </a:ext>
            </a:extLst>
          </p:cNvPr>
          <p:cNvSpPr txBox="1"/>
          <p:nvPr/>
        </p:nvSpPr>
        <p:spPr>
          <a:xfrm>
            <a:off x="391538" y="238966"/>
            <a:ext cx="1063962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Acessando Itens da Lista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Cada item em uma lista tem um número de índice, que começa em </a:t>
            </a:r>
            <a:r>
              <a:rPr lang="pt-BR" b="1" dirty="0"/>
              <a:t>0</a:t>
            </a:r>
            <a:r>
              <a:rPr lang="pt-BR" dirty="0"/>
              <a:t>. Para acessar um item, você usa o nome da lista seguido do índice entre colchetes.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Exemplo: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33CDEC-E2F5-E87C-AA2D-89810F1F5869}"/>
              </a:ext>
            </a:extLst>
          </p:cNvPr>
          <p:cNvSpPr txBox="1"/>
          <p:nvPr/>
        </p:nvSpPr>
        <p:spPr>
          <a:xfrm>
            <a:off x="391538" y="2317575"/>
            <a:ext cx="4929492" cy="26776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/>
              <a:t>frutas = ["maçã", "banana", "cereja"]</a:t>
            </a:r>
          </a:p>
          <a:p>
            <a:endParaRPr lang="pt-BR" sz="2400" dirty="0"/>
          </a:p>
          <a:p>
            <a:r>
              <a:rPr lang="pt-BR" sz="2400" dirty="0"/>
              <a:t># Acessa o primeiro item (índice 0)</a:t>
            </a:r>
          </a:p>
          <a:p>
            <a:r>
              <a:rPr lang="pt-BR" sz="2400" dirty="0"/>
              <a:t>print(frutas[0])  # Saída: maçã</a:t>
            </a:r>
          </a:p>
          <a:p>
            <a:endParaRPr lang="pt-BR" sz="2400" dirty="0"/>
          </a:p>
          <a:p>
            <a:r>
              <a:rPr lang="pt-BR" sz="2400" dirty="0"/>
              <a:t># Acessa o segundo item (índice 1)</a:t>
            </a:r>
          </a:p>
          <a:p>
            <a:r>
              <a:rPr lang="pt-BR" sz="2400" dirty="0"/>
              <a:t>print(frutas[1])  # Saída: banana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1574A2-53AA-7838-D082-B6F10E6DD7EA}"/>
              </a:ext>
            </a:extLst>
          </p:cNvPr>
          <p:cNvSpPr txBox="1"/>
          <p:nvPr/>
        </p:nvSpPr>
        <p:spPr>
          <a:xfrm>
            <a:off x="5711352" y="3392481"/>
            <a:ext cx="5815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Você também pode usar </a:t>
            </a:r>
            <a:r>
              <a:rPr lang="pt-BR" b="1" dirty="0"/>
              <a:t>índices negativos</a:t>
            </a:r>
            <a:r>
              <a:rPr lang="pt-BR" dirty="0"/>
              <a:t> para acessar os itens a partir do final da lista. O último item tem o índice </a:t>
            </a:r>
            <a:r>
              <a:rPr lang="pt-BR" dirty="0">
                <a:latin typeface="Courier New" panose="02070309020205020404" pitchFamily="49" charset="0"/>
              </a:rPr>
              <a:t>-1</a:t>
            </a:r>
            <a:r>
              <a:rPr lang="pt-BR" dirty="0"/>
              <a:t>, o penúltimo é </a:t>
            </a:r>
            <a:r>
              <a:rPr lang="pt-BR" dirty="0">
                <a:latin typeface="Courier New" panose="02070309020205020404" pitchFamily="49" charset="0"/>
              </a:rPr>
              <a:t>-2</a:t>
            </a:r>
            <a:r>
              <a:rPr lang="pt-BR" dirty="0"/>
              <a:t>, e assim por diante.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A4764E0-9B48-5854-FDAB-1396D89E5F06}"/>
              </a:ext>
            </a:extLst>
          </p:cNvPr>
          <p:cNvSpPr txBox="1"/>
          <p:nvPr/>
        </p:nvSpPr>
        <p:spPr>
          <a:xfrm>
            <a:off x="6247589" y="4847404"/>
            <a:ext cx="4861398" cy="156966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400" dirty="0"/>
              <a:t>frutas = ["maçã", "banana", "cereja"]</a:t>
            </a:r>
          </a:p>
          <a:p>
            <a:endParaRPr lang="pt-BR" sz="2400" dirty="0"/>
          </a:p>
          <a:p>
            <a:r>
              <a:rPr lang="pt-BR" sz="2400" dirty="0"/>
              <a:t># Acessa o último item (índice -1)</a:t>
            </a:r>
          </a:p>
          <a:p>
            <a:r>
              <a:rPr lang="pt-BR" sz="2400" dirty="0"/>
              <a:t>print(frutas[-1])  # Saída: cereja</a:t>
            </a:r>
          </a:p>
        </p:txBody>
      </p:sp>
    </p:spTree>
    <p:extLst>
      <p:ext uri="{BB962C8B-B14F-4D97-AF65-F5344CB8AC3E}">
        <p14:creationId xmlns:p14="http://schemas.microsoft.com/office/powerpoint/2010/main" val="1164302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4C9E7F6-274F-D031-8BE5-5490DDA0491F}"/>
              </a:ext>
            </a:extLst>
          </p:cNvPr>
          <p:cNvSpPr txBox="1"/>
          <p:nvPr/>
        </p:nvSpPr>
        <p:spPr>
          <a:xfrm>
            <a:off x="625001" y="175976"/>
            <a:ext cx="108828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Manipulando uma Lista</a:t>
            </a:r>
          </a:p>
          <a:p>
            <a:pPr>
              <a:buNone/>
            </a:pPr>
            <a:r>
              <a:rPr lang="pt-BR" dirty="0"/>
              <a:t>Como as listas são mutáveis, você pode facilmente adicionar, remover ou alterar seus itens.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Adicionando Itens</a:t>
            </a:r>
          </a:p>
          <a:p>
            <a:pPr>
              <a:buNone/>
            </a:pPr>
            <a:endParaRPr lang="pt-BR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lvl="2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 err="1">
                <a:latin typeface="Courier New" panose="02070309020205020404" pitchFamily="49" charset="0"/>
              </a:rPr>
              <a:t>append</a:t>
            </a:r>
            <a:r>
              <a:rPr lang="pt-BR" b="1" dirty="0">
                <a:latin typeface="Courier New" panose="02070309020205020404" pitchFamily="49" charset="0"/>
              </a:rPr>
              <a:t>()</a:t>
            </a:r>
            <a:r>
              <a:rPr lang="pt-BR" b="1" dirty="0"/>
              <a:t>: </a:t>
            </a:r>
            <a:r>
              <a:rPr lang="pt-BR" dirty="0"/>
              <a:t>Adiciona um item no </a:t>
            </a:r>
            <a:r>
              <a:rPr lang="pt-BR" b="1" dirty="0"/>
              <a:t>final</a:t>
            </a:r>
            <a:r>
              <a:rPr lang="pt-BR" dirty="0"/>
              <a:t> da lista.</a:t>
            </a:r>
          </a:p>
          <a:p>
            <a:pPr lvl="2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 err="1">
                <a:latin typeface="Courier New" panose="02070309020205020404" pitchFamily="49" charset="0"/>
              </a:rPr>
              <a:t>insert</a:t>
            </a:r>
            <a:r>
              <a:rPr lang="pt-BR" b="1" dirty="0">
                <a:latin typeface="Courier New" panose="02070309020205020404" pitchFamily="49" charset="0"/>
              </a:rPr>
              <a:t>()</a:t>
            </a:r>
            <a:r>
              <a:rPr lang="pt-BR" b="1" dirty="0"/>
              <a:t>: </a:t>
            </a:r>
            <a:r>
              <a:rPr lang="pt-BR" dirty="0"/>
              <a:t>Adiciona um item em uma </a:t>
            </a:r>
            <a:r>
              <a:rPr lang="pt-BR" b="1" dirty="0"/>
              <a:t>posição específica</a:t>
            </a:r>
            <a:r>
              <a:rPr lang="pt-BR" dirty="0"/>
              <a:t>.</a:t>
            </a:r>
          </a:p>
          <a:p>
            <a:pPr>
              <a:buNone/>
            </a:pPr>
            <a:r>
              <a:rPr lang="pt-BR" b="1" dirty="0"/>
              <a:t>Exemplo: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2163FA-5646-8F73-BB2F-99053E3FB4EF}"/>
              </a:ext>
            </a:extLst>
          </p:cNvPr>
          <p:cNvSpPr txBox="1"/>
          <p:nvPr/>
        </p:nvSpPr>
        <p:spPr>
          <a:xfrm>
            <a:off x="2502440" y="3670997"/>
            <a:ext cx="7828334" cy="2862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frutas = ["maçã", "banana", "cereja"]</a:t>
            </a:r>
          </a:p>
          <a:p>
            <a:endParaRPr lang="pt-BR" sz="2000" dirty="0"/>
          </a:p>
          <a:p>
            <a:r>
              <a:rPr lang="pt-BR" sz="2000" dirty="0"/>
              <a:t># Adiciona "laranja" no final da lista</a:t>
            </a:r>
          </a:p>
          <a:p>
            <a:r>
              <a:rPr lang="pt-BR" sz="2000" dirty="0" err="1"/>
              <a:t>frutas.append</a:t>
            </a:r>
            <a:r>
              <a:rPr lang="pt-BR" sz="2000" dirty="0"/>
              <a:t>("laranja")</a:t>
            </a:r>
          </a:p>
          <a:p>
            <a:r>
              <a:rPr lang="pt-BR" sz="2000" dirty="0"/>
              <a:t>print(frutas)  # Saída: ['maçã', 'banana', 'cereja', 'laranja']</a:t>
            </a:r>
          </a:p>
          <a:p>
            <a:endParaRPr lang="pt-BR" sz="2000" dirty="0"/>
          </a:p>
          <a:p>
            <a:r>
              <a:rPr lang="pt-BR" sz="2000" dirty="0"/>
              <a:t># Insere "morango" na posição 1</a:t>
            </a:r>
          </a:p>
          <a:p>
            <a:r>
              <a:rPr lang="pt-BR" sz="2000" dirty="0" err="1"/>
              <a:t>frutas.insert</a:t>
            </a:r>
            <a:r>
              <a:rPr lang="pt-BR" sz="2000" dirty="0"/>
              <a:t>(1, "morango")</a:t>
            </a:r>
          </a:p>
          <a:p>
            <a:r>
              <a:rPr lang="pt-BR" sz="2000" dirty="0"/>
              <a:t>print(frutas)  # Saída: ['maçã', 'morango', 'banana', 'cereja', 'laranja']</a:t>
            </a:r>
          </a:p>
        </p:txBody>
      </p:sp>
    </p:spTree>
    <p:extLst>
      <p:ext uri="{BB962C8B-B14F-4D97-AF65-F5344CB8AC3E}">
        <p14:creationId xmlns:p14="http://schemas.microsoft.com/office/powerpoint/2010/main" val="456324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ECEFC63-85BB-27AE-D834-8F542DD8F4E2}"/>
              </a:ext>
            </a:extLst>
          </p:cNvPr>
          <p:cNvSpPr txBox="1"/>
          <p:nvPr/>
        </p:nvSpPr>
        <p:spPr>
          <a:xfrm>
            <a:off x="644457" y="139377"/>
            <a:ext cx="1080499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Removendo Itens</a:t>
            </a:r>
          </a:p>
          <a:p>
            <a:pPr>
              <a:buNone/>
            </a:pPr>
            <a:endParaRPr lang="pt-BR" sz="2400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Courier New" panose="02070309020205020404" pitchFamily="49" charset="0"/>
              </a:rPr>
              <a:t>remove()</a:t>
            </a:r>
            <a:r>
              <a:rPr lang="pt-BR" b="1" dirty="0"/>
              <a:t>: </a:t>
            </a:r>
            <a:r>
              <a:rPr lang="pt-BR" dirty="0"/>
              <a:t>Remove o </a:t>
            </a:r>
            <a:r>
              <a:rPr lang="pt-BR" b="1" dirty="0"/>
              <a:t>primeiro</a:t>
            </a:r>
            <a:r>
              <a:rPr lang="pt-BR" dirty="0"/>
              <a:t> item com um valor específico.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Courier New" panose="02070309020205020404" pitchFamily="49" charset="0"/>
              </a:rPr>
              <a:t>pop()</a:t>
            </a:r>
            <a:r>
              <a:rPr lang="pt-BR" b="1" dirty="0"/>
              <a:t>: </a:t>
            </a:r>
            <a:r>
              <a:rPr lang="pt-BR" dirty="0"/>
              <a:t>Remove o item de um </a:t>
            </a:r>
            <a:r>
              <a:rPr lang="pt-BR" b="1" dirty="0"/>
              <a:t>índice específico</a:t>
            </a:r>
            <a:r>
              <a:rPr lang="pt-BR" dirty="0"/>
              <a:t>. Se nenhum índice for fornecido, remove o último item.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 err="1">
                <a:latin typeface="Courier New" panose="02070309020205020404" pitchFamily="49" charset="0"/>
              </a:rPr>
              <a:t>del</a:t>
            </a:r>
            <a:r>
              <a:rPr lang="pt-BR" b="1" dirty="0"/>
              <a:t>: </a:t>
            </a:r>
            <a:r>
              <a:rPr lang="pt-BR" dirty="0"/>
              <a:t>Remove um item de um </a:t>
            </a:r>
            <a:r>
              <a:rPr lang="pt-BR" b="1" dirty="0"/>
              <a:t>índice específico</a:t>
            </a:r>
            <a:r>
              <a:rPr lang="pt-BR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b="1" dirty="0"/>
              <a:t>Exemplos: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0A973E-30BA-8010-04CB-7AE2095BD7C1}"/>
              </a:ext>
            </a:extLst>
          </p:cNvPr>
          <p:cNvSpPr txBox="1"/>
          <p:nvPr/>
        </p:nvSpPr>
        <p:spPr>
          <a:xfrm>
            <a:off x="2658081" y="2748305"/>
            <a:ext cx="9144811" cy="39703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frutas = ["maçã", "morango", "banana", "cereja"]</a:t>
            </a:r>
          </a:p>
          <a:p>
            <a:endParaRPr lang="pt-BR" dirty="0"/>
          </a:p>
          <a:p>
            <a:r>
              <a:rPr lang="pt-BR" dirty="0"/>
              <a:t># Remove "banana" pelo seu valor</a:t>
            </a:r>
          </a:p>
          <a:p>
            <a:r>
              <a:rPr lang="pt-BR" dirty="0" err="1"/>
              <a:t>frutas.remove</a:t>
            </a:r>
            <a:r>
              <a:rPr lang="pt-BR" dirty="0"/>
              <a:t>("banana")</a:t>
            </a:r>
          </a:p>
          <a:p>
            <a:r>
              <a:rPr lang="pt-BR" dirty="0"/>
              <a:t>print(frutas)  # Saída: ['maçã', 'morango', 'cereja']</a:t>
            </a:r>
          </a:p>
          <a:p>
            <a:endParaRPr lang="pt-BR" dirty="0"/>
          </a:p>
          <a:p>
            <a:r>
              <a:rPr lang="pt-BR" dirty="0"/>
              <a:t># Remove o item na posição 1 (morango)</a:t>
            </a:r>
          </a:p>
          <a:p>
            <a:r>
              <a:rPr lang="pt-BR" dirty="0" err="1"/>
              <a:t>item_removido</a:t>
            </a:r>
            <a:r>
              <a:rPr lang="pt-BR" dirty="0"/>
              <a:t> = </a:t>
            </a:r>
            <a:r>
              <a:rPr lang="pt-BR" dirty="0" err="1"/>
              <a:t>frutas.pop</a:t>
            </a:r>
            <a:r>
              <a:rPr lang="pt-BR" dirty="0"/>
              <a:t>(1)</a:t>
            </a:r>
          </a:p>
          <a:p>
            <a:r>
              <a:rPr lang="pt-BR" dirty="0"/>
              <a:t>print(frutas)        # Saída: ['maçã', 'cereja']</a:t>
            </a:r>
          </a:p>
          <a:p>
            <a:r>
              <a:rPr lang="pt-BR" dirty="0"/>
              <a:t>print(</a:t>
            </a:r>
            <a:r>
              <a:rPr lang="pt-BR" dirty="0" err="1"/>
              <a:t>item_removido</a:t>
            </a:r>
            <a:r>
              <a:rPr lang="pt-BR" dirty="0"/>
              <a:t>) # Saída: morango</a:t>
            </a:r>
          </a:p>
          <a:p>
            <a:endParaRPr lang="pt-BR" dirty="0"/>
          </a:p>
          <a:p>
            <a:r>
              <a:rPr lang="pt-BR" dirty="0"/>
              <a:t># Remove o item na posição 0 (maçã)</a:t>
            </a:r>
          </a:p>
          <a:p>
            <a:r>
              <a:rPr lang="pt-BR" dirty="0" err="1"/>
              <a:t>del</a:t>
            </a:r>
            <a:r>
              <a:rPr lang="pt-BR" dirty="0"/>
              <a:t> frutas[0]</a:t>
            </a:r>
          </a:p>
          <a:p>
            <a:r>
              <a:rPr lang="pt-BR" dirty="0"/>
              <a:t>print(frutas)  # Saída: ['cereja']</a:t>
            </a:r>
          </a:p>
        </p:txBody>
      </p:sp>
    </p:spTree>
    <p:extLst>
      <p:ext uri="{BB962C8B-B14F-4D97-AF65-F5344CB8AC3E}">
        <p14:creationId xmlns:p14="http://schemas.microsoft.com/office/powerpoint/2010/main" val="2836940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992A354-B7BF-A338-DEFE-197ADA755A69}"/>
              </a:ext>
            </a:extLst>
          </p:cNvPr>
          <p:cNvSpPr txBox="1"/>
          <p:nvPr/>
        </p:nvSpPr>
        <p:spPr>
          <a:xfrm>
            <a:off x="469359" y="309373"/>
            <a:ext cx="6094378" cy="241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Outras Operações Comuns</a:t>
            </a:r>
          </a:p>
          <a:p>
            <a:pPr>
              <a:buNone/>
            </a:pPr>
            <a:endParaRPr lang="pt-BR" sz="2400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 err="1"/>
              <a:t>Len</a:t>
            </a:r>
            <a:r>
              <a:rPr lang="pt-BR" b="1" dirty="0"/>
              <a:t>():</a:t>
            </a:r>
            <a:r>
              <a:rPr lang="pt-BR" dirty="0"/>
              <a:t> Retorna o número de itens na lista.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In:</a:t>
            </a:r>
            <a:r>
              <a:rPr lang="pt-BR" dirty="0"/>
              <a:t> Verifica se um item existe na lista.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 err="1"/>
              <a:t>Slicing</a:t>
            </a:r>
            <a:r>
              <a:rPr lang="pt-BR" b="1" dirty="0"/>
              <a:t> (Fatiamento):</a:t>
            </a:r>
            <a:r>
              <a:rPr lang="pt-BR" dirty="0"/>
              <a:t> Extrai uma parte da lista.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4F5233-B5AE-C122-AEB8-A102FC6F94A7}"/>
              </a:ext>
            </a:extLst>
          </p:cNvPr>
          <p:cNvSpPr txBox="1"/>
          <p:nvPr/>
        </p:nvSpPr>
        <p:spPr>
          <a:xfrm>
            <a:off x="3163920" y="2924758"/>
            <a:ext cx="7974249" cy="34163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err="1"/>
              <a:t>numeros</a:t>
            </a:r>
            <a:r>
              <a:rPr lang="pt-BR" dirty="0"/>
              <a:t> = [10, 20, 30, 40, 50, 60]</a:t>
            </a:r>
          </a:p>
          <a:p>
            <a:endParaRPr lang="pt-BR" dirty="0"/>
          </a:p>
          <a:p>
            <a:r>
              <a:rPr lang="pt-BR" dirty="0"/>
              <a:t># Conta o número de itens</a:t>
            </a:r>
          </a:p>
          <a:p>
            <a:r>
              <a:rPr lang="pt-BR" dirty="0"/>
              <a:t>print(</a:t>
            </a:r>
            <a:r>
              <a:rPr lang="pt-BR" dirty="0" err="1"/>
              <a:t>len</a:t>
            </a:r>
            <a:r>
              <a:rPr lang="pt-BR" dirty="0"/>
              <a:t>(</a:t>
            </a:r>
            <a:r>
              <a:rPr lang="pt-BR" dirty="0" err="1"/>
              <a:t>numeros</a:t>
            </a:r>
            <a:r>
              <a:rPr lang="pt-BR" dirty="0"/>
              <a:t>))  # Saída: 6</a:t>
            </a:r>
          </a:p>
          <a:p>
            <a:endParaRPr lang="pt-BR" dirty="0"/>
          </a:p>
          <a:p>
            <a:r>
              <a:rPr lang="pt-BR" dirty="0"/>
              <a:t># Verifica se o número 30 está na lista</a:t>
            </a:r>
          </a:p>
          <a:p>
            <a:r>
              <a:rPr lang="pt-BR" dirty="0" err="1"/>
              <a:t>if</a:t>
            </a:r>
            <a:r>
              <a:rPr lang="pt-BR" dirty="0"/>
              <a:t> 30 in </a:t>
            </a:r>
            <a:r>
              <a:rPr lang="pt-BR" dirty="0" err="1"/>
              <a:t>numeros</a:t>
            </a:r>
            <a:r>
              <a:rPr lang="pt-BR" dirty="0"/>
              <a:t>:</a:t>
            </a:r>
          </a:p>
          <a:p>
            <a:r>
              <a:rPr lang="pt-BR" dirty="0"/>
              <a:t>    print("O número 30 está na lista.")</a:t>
            </a:r>
          </a:p>
          <a:p>
            <a:endParaRPr lang="pt-BR" dirty="0"/>
          </a:p>
          <a:p>
            <a:r>
              <a:rPr lang="pt-BR" dirty="0"/>
              <a:t># Fatiamento - Extrai itens do índice 1 ao 3 (o último índice não é incluído)</a:t>
            </a:r>
          </a:p>
          <a:p>
            <a:r>
              <a:rPr lang="pt-BR" dirty="0" err="1"/>
              <a:t>sub_lista</a:t>
            </a:r>
            <a:r>
              <a:rPr lang="pt-BR" dirty="0"/>
              <a:t> = </a:t>
            </a:r>
            <a:r>
              <a:rPr lang="pt-BR" dirty="0" err="1"/>
              <a:t>numeros</a:t>
            </a:r>
            <a:r>
              <a:rPr lang="pt-BR" dirty="0"/>
              <a:t>[1:4]</a:t>
            </a:r>
          </a:p>
          <a:p>
            <a:r>
              <a:rPr lang="pt-BR" dirty="0"/>
              <a:t>print(</a:t>
            </a:r>
            <a:r>
              <a:rPr lang="pt-BR" dirty="0" err="1"/>
              <a:t>sub_lista</a:t>
            </a:r>
            <a:r>
              <a:rPr lang="pt-BR" dirty="0"/>
              <a:t>)  # Saída: [20, 30, 40]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C3D7F27-06A7-4702-4689-AF6598E5A095}"/>
              </a:ext>
            </a:extLst>
          </p:cNvPr>
          <p:cNvSpPr txBox="1"/>
          <p:nvPr/>
        </p:nvSpPr>
        <p:spPr>
          <a:xfrm>
            <a:off x="583660" y="4114800"/>
            <a:ext cx="2324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Exemplos: </a:t>
            </a:r>
          </a:p>
        </p:txBody>
      </p:sp>
    </p:spTree>
    <p:extLst>
      <p:ext uri="{BB962C8B-B14F-4D97-AF65-F5344CB8AC3E}">
        <p14:creationId xmlns:p14="http://schemas.microsoft.com/office/powerpoint/2010/main" val="3817068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FB194B-5147-149D-6786-F8E2DAD6A1E4}"/>
              </a:ext>
            </a:extLst>
          </p:cNvPr>
          <p:cNvSpPr txBox="1"/>
          <p:nvPr/>
        </p:nvSpPr>
        <p:spPr>
          <a:xfrm>
            <a:off x="761189" y="231551"/>
            <a:ext cx="101240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Iterando (Percorrendo) uma Lista</a:t>
            </a:r>
          </a:p>
          <a:p>
            <a:pPr>
              <a:buNone/>
            </a:pPr>
            <a:endParaRPr lang="pt-BR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A maneira mais comum de percorrer os itens de uma lista é usando um laço de repetição </a:t>
            </a:r>
            <a:r>
              <a:rPr lang="pt-BR" b="1" dirty="0">
                <a:latin typeface="Courier New" panose="02070309020205020404" pitchFamily="49" charset="0"/>
              </a:rPr>
              <a:t>for</a:t>
            </a:r>
            <a:r>
              <a:rPr lang="pt-BR" b="1" dirty="0"/>
              <a:t>.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Exemplo: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10C6D51-6B93-1728-A8C8-BAF11BD2D991}"/>
              </a:ext>
            </a:extLst>
          </p:cNvPr>
          <p:cNvSpPr txBox="1"/>
          <p:nvPr/>
        </p:nvSpPr>
        <p:spPr>
          <a:xfrm>
            <a:off x="2891547" y="2892784"/>
            <a:ext cx="6094378" cy="31700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frutas = ["maçã", "banana", "cereja"]</a:t>
            </a:r>
          </a:p>
          <a:p>
            <a:endParaRPr lang="pt-BR" sz="2000" dirty="0"/>
          </a:p>
          <a:p>
            <a:r>
              <a:rPr lang="pt-BR" sz="2000" dirty="0"/>
              <a:t># Percorre e imprime cada item da lista</a:t>
            </a:r>
          </a:p>
          <a:p>
            <a:r>
              <a:rPr lang="pt-BR" sz="2000" dirty="0"/>
              <a:t>for fruta in frutas:</a:t>
            </a:r>
          </a:p>
          <a:p>
            <a:r>
              <a:rPr lang="pt-BR" sz="2000" dirty="0"/>
              <a:t>    print(fruta)</a:t>
            </a:r>
          </a:p>
          <a:p>
            <a:endParaRPr lang="pt-BR" sz="2000" dirty="0"/>
          </a:p>
          <a:p>
            <a:r>
              <a:rPr lang="pt-BR" sz="2000" dirty="0"/>
              <a:t># Saída:</a:t>
            </a:r>
          </a:p>
          <a:p>
            <a:r>
              <a:rPr lang="pt-BR" sz="2000" dirty="0"/>
              <a:t># maçã</a:t>
            </a:r>
          </a:p>
          <a:p>
            <a:r>
              <a:rPr lang="pt-BR" sz="2000" dirty="0"/>
              <a:t># banana</a:t>
            </a:r>
          </a:p>
          <a:p>
            <a:r>
              <a:rPr lang="pt-BR" sz="2000" dirty="0"/>
              <a:t># cereja</a:t>
            </a:r>
          </a:p>
        </p:txBody>
      </p:sp>
    </p:spTree>
    <p:extLst>
      <p:ext uri="{BB962C8B-B14F-4D97-AF65-F5344CB8AC3E}">
        <p14:creationId xmlns:p14="http://schemas.microsoft.com/office/powerpoint/2010/main" val="1294297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4561472-9BAF-43D5-B5C7-08C71FD25769}"/>
              </a:ext>
            </a:extLst>
          </p:cNvPr>
          <p:cNvSpPr txBox="1"/>
          <p:nvPr/>
        </p:nvSpPr>
        <p:spPr>
          <a:xfrm>
            <a:off x="340468" y="265358"/>
            <a:ext cx="11653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Esta é a forma mais comum e recomendada de percorrer uma lista. O loop itera sobre cada item da lista diretamente.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02DD9D-25F1-ADDD-1888-CE8A278CFBAC}"/>
              </a:ext>
            </a:extLst>
          </p:cNvPr>
          <p:cNvSpPr txBox="1"/>
          <p:nvPr/>
        </p:nvSpPr>
        <p:spPr>
          <a:xfrm>
            <a:off x="2521895" y="1363708"/>
            <a:ext cx="8100709" cy="46782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# Criando uma lista de frutas</a:t>
            </a:r>
          </a:p>
          <a:p>
            <a:r>
              <a:rPr lang="pt-BR" sz="2000" dirty="0"/>
              <a:t>frutas = ["maçã", "banana", "cereja", "abacaxi"]</a:t>
            </a:r>
          </a:p>
          <a:p>
            <a:endParaRPr lang="pt-BR" sz="2000" dirty="0"/>
          </a:p>
          <a:p>
            <a:r>
              <a:rPr lang="pt-BR" sz="2000" dirty="0"/>
              <a:t>print("Percorrendo a lista de frutas:")</a:t>
            </a:r>
          </a:p>
          <a:p>
            <a:endParaRPr lang="pt-BR" sz="2000" dirty="0"/>
          </a:p>
          <a:p>
            <a:r>
              <a:rPr lang="pt-BR" sz="2000" dirty="0"/>
              <a:t># Usando um for loop para imprimir cada fruta</a:t>
            </a:r>
          </a:p>
          <a:p>
            <a:r>
              <a:rPr lang="pt-BR" sz="2000" dirty="0"/>
              <a:t>for fruta in frutas:</a:t>
            </a:r>
          </a:p>
          <a:p>
            <a:r>
              <a:rPr lang="pt-BR" sz="2000" dirty="0"/>
              <a:t>    print(fruta)</a:t>
            </a:r>
          </a:p>
          <a:p>
            <a:endParaRPr lang="pt-BR" sz="2000" dirty="0"/>
          </a:p>
          <a:p>
            <a:r>
              <a:rPr lang="pt-BR" sz="2000" dirty="0"/>
              <a:t># Saída:</a:t>
            </a:r>
          </a:p>
          <a:p>
            <a:r>
              <a:rPr lang="pt-BR" sz="2000" dirty="0"/>
              <a:t># Percorrendo a lista de frutas:</a:t>
            </a:r>
          </a:p>
          <a:p>
            <a:r>
              <a:rPr lang="pt-BR" sz="2000" dirty="0"/>
              <a:t># maçã</a:t>
            </a:r>
          </a:p>
          <a:p>
            <a:r>
              <a:rPr lang="pt-BR" sz="2000" dirty="0"/>
              <a:t># banana</a:t>
            </a:r>
          </a:p>
          <a:p>
            <a:r>
              <a:rPr lang="pt-BR" sz="2000" dirty="0"/>
              <a:t># cereja</a:t>
            </a:r>
          </a:p>
          <a:p>
            <a:r>
              <a:rPr lang="pt-BR" sz="2000" dirty="0"/>
              <a:t># abacaxi</a:t>
            </a:r>
          </a:p>
        </p:txBody>
      </p:sp>
    </p:spTree>
    <p:extLst>
      <p:ext uri="{BB962C8B-B14F-4D97-AF65-F5344CB8AC3E}">
        <p14:creationId xmlns:p14="http://schemas.microsoft.com/office/powerpoint/2010/main" val="11881791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2A6D7B7-95AC-3999-57CB-67AAD989C02B}"/>
              </a:ext>
            </a:extLst>
          </p:cNvPr>
          <p:cNvSpPr txBox="1"/>
          <p:nvPr/>
        </p:nvSpPr>
        <p:spPr>
          <a:xfrm>
            <a:off x="839010" y="408961"/>
            <a:ext cx="1093145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Usando </a:t>
            </a:r>
            <a:r>
              <a:rPr lang="pt-BR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for</a:t>
            </a:r>
            <a:r>
              <a:rPr lang="pt-BR" sz="2400" b="1" dirty="0">
                <a:solidFill>
                  <a:srgbClr val="C00000"/>
                </a:solidFill>
              </a:rPr>
              <a:t> loop com a função </a:t>
            </a:r>
            <a:r>
              <a:rPr lang="pt-BR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range()</a:t>
            </a:r>
          </a:p>
          <a:p>
            <a:pPr>
              <a:buNone/>
            </a:pPr>
            <a:endParaRPr lang="pt-BR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Esta abordagem usa o índice para acessar os itens da lista. É útil quando você precisa saber a posição de cada item.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286BFF-8DFA-8D9B-B0B3-71D5E33BD4B8}"/>
              </a:ext>
            </a:extLst>
          </p:cNvPr>
          <p:cNvSpPr txBox="1"/>
          <p:nvPr/>
        </p:nvSpPr>
        <p:spPr>
          <a:xfrm>
            <a:off x="1782593" y="1890437"/>
            <a:ext cx="6826386" cy="46782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# Criando uma lista de notas</a:t>
            </a:r>
          </a:p>
          <a:p>
            <a:r>
              <a:rPr lang="pt-BR" sz="2000" dirty="0"/>
              <a:t>notas = [8.5, 7.0, 9.2, 6.5]</a:t>
            </a:r>
          </a:p>
          <a:p>
            <a:endParaRPr lang="pt-BR" sz="2000" dirty="0"/>
          </a:p>
          <a:p>
            <a:r>
              <a:rPr lang="pt-BR" sz="2000" dirty="0"/>
              <a:t>print("Percorrendo a lista de notas com índices:")</a:t>
            </a:r>
          </a:p>
          <a:p>
            <a:endParaRPr lang="pt-BR" sz="2000" dirty="0"/>
          </a:p>
          <a:p>
            <a:r>
              <a:rPr lang="pt-BR" sz="2000" dirty="0"/>
              <a:t># Usando um for loop com range() para percorrer os índices</a:t>
            </a:r>
          </a:p>
          <a:p>
            <a:r>
              <a:rPr lang="pt-BR" sz="2000" dirty="0"/>
              <a:t>for i in range(</a:t>
            </a:r>
            <a:r>
              <a:rPr lang="pt-BR" sz="2000" dirty="0" err="1"/>
              <a:t>len</a:t>
            </a:r>
            <a:r>
              <a:rPr lang="pt-BR" sz="2000" dirty="0"/>
              <a:t>(notas)):</a:t>
            </a:r>
          </a:p>
          <a:p>
            <a:r>
              <a:rPr lang="pt-BR" sz="2000" dirty="0"/>
              <a:t>    print(</a:t>
            </a:r>
            <a:r>
              <a:rPr lang="pt-BR" sz="2000" dirty="0" err="1"/>
              <a:t>f"A</a:t>
            </a:r>
            <a:r>
              <a:rPr lang="pt-BR" sz="2000" dirty="0"/>
              <a:t> nota no índice {i} é {notas[i]}")</a:t>
            </a:r>
          </a:p>
          <a:p>
            <a:endParaRPr lang="pt-BR" sz="2000" dirty="0"/>
          </a:p>
          <a:p>
            <a:r>
              <a:rPr lang="pt-BR" sz="2000" dirty="0"/>
              <a:t># Saída:</a:t>
            </a:r>
          </a:p>
          <a:p>
            <a:r>
              <a:rPr lang="pt-BR" sz="2000" dirty="0"/>
              <a:t># Percorrendo a lista de notas com índices:</a:t>
            </a:r>
          </a:p>
          <a:p>
            <a:r>
              <a:rPr lang="pt-BR" sz="2000" dirty="0"/>
              <a:t># A nota no índice 0 é 8.5</a:t>
            </a:r>
          </a:p>
          <a:p>
            <a:r>
              <a:rPr lang="pt-BR" sz="2000" dirty="0"/>
              <a:t># A nota no índice 1 é 7.0</a:t>
            </a:r>
          </a:p>
          <a:p>
            <a:r>
              <a:rPr lang="pt-BR" sz="2000" dirty="0"/>
              <a:t># A nota no índice 2 é 9.2</a:t>
            </a:r>
          </a:p>
          <a:p>
            <a:r>
              <a:rPr lang="pt-BR" sz="2000" dirty="0"/>
              <a:t># A nota no índice 3 é 6.5</a:t>
            </a:r>
          </a:p>
        </p:txBody>
      </p:sp>
    </p:spTree>
    <p:extLst>
      <p:ext uri="{BB962C8B-B14F-4D97-AF65-F5344CB8AC3E}">
        <p14:creationId xmlns:p14="http://schemas.microsoft.com/office/powerpoint/2010/main" val="34679921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0A2FD47-CD08-3044-2B52-B558AFD349C5}"/>
              </a:ext>
            </a:extLst>
          </p:cNvPr>
          <p:cNvSpPr txBox="1"/>
          <p:nvPr/>
        </p:nvSpPr>
        <p:spPr>
          <a:xfrm>
            <a:off x="362354" y="406649"/>
            <a:ext cx="111746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C00000"/>
                </a:solidFill>
              </a:rPr>
              <a:t>Usando </a:t>
            </a:r>
            <a:r>
              <a:rPr lang="pt-BR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for</a:t>
            </a:r>
            <a:r>
              <a:rPr lang="pt-BR" sz="2400" b="1" dirty="0">
                <a:solidFill>
                  <a:srgbClr val="C00000"/>
                </a:solidFill>
              </a:rPr>
              <a:t> loop com a função </a:t>
            </a:r>
            <a:r>
              <a:rPr lang="pt-BR" sz="24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enumerate</a:t>
            </a:r>
            <a:r>
              <a:rPr lang="pt-BR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pt-BR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A função </a:t>
            </a:r>
            <a:r>
              <a:rPr lang="pt-BR" dirty="0" err="1">
                <a:latin typeface="Courier New" panose="02070309020205020404" pitchFamily="49" charset="0"/>
              </a:rPr>
              <a:t>enumerate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é uma forma elegante de obter o item e seu índice ao mesmo tempo, sem precisar usar o </a:t>
            </a:r>
            <a:r>
              <a:rPr lang="pt-BR" b="1" dirty="0">
                <a:latin typeface="Courier New" panose="02070309020205020404" pitchFamily="49" charset="0"/>
              </a:rPr>
              <a:t>range(</a:t>
            </a:r>
            <a:r>
              <a:rPr lang="pt-BR" b="1" dirty="0" err="1">
                <a:latin typeface="Courier New" panose="02070309020205020404" pitchFamily="49" charset="0"/>
              </a:rPr>
              <a:t>len</a:t>
            </a:r>
            <a:r>
              <a:rPr lang="pt-BR" b="1" dirty="0">
                <a:latin typeface="Courier New" panose="02070309020205020404" pitchFamily="49" charset="0"/>
              </a:rPr>
              <a:t>())</a:t>
            </a:r>
            <a:r>
              <a:rPr lang="pt-BR" b="1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B73C15-B380-CD3B-F707-D8964CCFB98C}"/>
              </a:ext>
            </a:extLst>
          </p:cNvPr>
          <p:cNvSpPr txBox="1"/>
          <p:nvPr/>
        </p:nvSpPr>
        <p:spPr>
          <a:xfrm>
            <a:off x="2619171" y="2241509"/>
            <a:ext cx="8324445" cy="39703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# Criando uma lista de tarefas</a:t>
            </a:r>
          </a:p>
          <a:p>
            <a:r>
              <a:rPr lang="pt-BR" dirty="0"/>
              <a:t>tarefas = ["Fazer compras", "Limpar a casa", "Estudar Python"]</a:t>
            </a:r>
          </a:p>
          <a:p>
            <a:endParaRPr lang="pt-BR" dirty="0"/>
          </a:p>
          <a:p>
            <a:r>
              <a:rPr lang="pt-BR" dirty="0"/>
              <a:t>print("Percorrendo a lista de tarefas com </a:t>
            </a:r>
            <a:r>
              <a:rPr lang="pt-BR" dirty="0" err="1"/>
              <a:t>enumerate</a:t>
            </a:r>
            <a:r>
              <a:rPr lang="pt-BR" dirty="0"/>
              <a:t>():")</a:t>
            </a:r>
          </a:p>
          <a:p>
            <a:endParaRPr lang="pt-BR" dirty="0"/>
          </a:p>
          <a:p>
            <a:r>
              <a:rPr lang="pt-BR" dirty="0"/>
              <a:t># Usando </a:t>
            </a:r>
            <a:r>
              <a:rPr lang="pt-BR" dirty="0" err="1"/>
              <a:t>enumerate</a:t>
            </a:r>
            <a:r>
              <a:rPr lang="pt-BR" dirty="0"/>
              <a:t>() para obter o índice e o valor</a:t>
            </a:r>
          </a:p>
          <a:p>
            <a:r>
              <a:rPr lang="pt-BR" dirty="0"/>
              <a:t>for </a:t>
            </a:r>
            <a:r>
              <a:rPr lang="pt-BR" dirty="0" err="1"/>
              <a:t>indice</a:t>
            </a:r>
            <a:r>
              <a:rPr lang="pt-BR" dirty="0"/>
              <a:t>, tarefa in </a:t>
            </a:r>
            <a:r>
              <a:rPr lang="pt-BR" dirty="0" err="1"/>
              <a:t>enumerate</a:t>
            </a:r>
            <a:r>
              <a:rPr lang="pt-BR" dirty="0"/>
              <a:t>(tarefas):</a:t>
            </a:r>
          </a:p>
          <a:p>
            <a:r>
              <a:rPr lang="pt-BR" dirty="0"/>
              <a:t>    print(</a:t>
            </a:r>
            <a:r>
              <a:rPr lang="pt-BR" dirty="0" err="1"/>
              <a:t>f"Tarefa</a:t>
            </a:r>
            <a:r>
              <a:rPr lang="pt-BR" dirty="0"/>
              <a:t> {</a:t>
            </a:r>
            <a:r>
              <a:rPr lang="pt-BR" dirty="0" err="1"/>
              <a:t>indice</a:t>
            </a:r>
            <a:r>
              <a:rPr lang="pt-BR" dirty="0"/>
              <a:t> + 1}: {tarefa}")</a:t>
            </a:r>
          </a:p>
          <a:p>
            <a:endParaRPr lang="pt-BR" dirty="0"/>
          </a:p>
          <a:p>
            <a:r>
              <a:rPr lang="pt-BR" dirty="0"/>
              <a:t># Saída:</a:t>
            </a:r>
          </a:p>
          <a:p>
            <a:r>
              <a:rPr lang="pt-BR" dirty="0"/>
              <a:t># Percorrendo a lista de tarefas com </a:t>
            </a:r>
            <a:r>
              <a:rPr lang="pt-BR" dirty="0" err="1"/>
              <a:t>enumerate</a:t>
            </a:r>
            <a:r>
              <a:rPr lang="pt-BR" dirty="0"/>
              <a:t>():</a:t>
            </a:r>
          </a:p>
          <a:p>
            <a:r>
              <a:rPr lang="pt-BR" dirty="0"/>
              <a:t># Tarefa 1: Fazer compras</a:t>
            </a:r>
          </a:p>
          <a:p>
            <a:r>
              <a:rPr lang="pt-BR" dirty="0"/>
              <a:t># Tarefa 2: Limpar a casa</a:t>
            </a:r>
          </a:p>
          <a:p>
            <a:r>
              <a:rPr lang="pt-BR" dirty="0"/>
              <a:t># Tarefa 3: Estudar Python</a:t>
            </a:r>
          </a:p>
        </p:txBody>
      </p:sp>
    </p:spTree>
    <p:extLst>
      <p:ext uri="{BB962C8B-B14F-4D97-AF65-F5344CB8AC3E}">
        <p14:creationId xmlns:p14="http://schemas.microsoft.com/office/powerpoint/2010/main" val="4437635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32EB947-D99E-7CFD-875D-43AA97D604FD}"/>
              </a:ext>
            </a:extLst>
          </p:cNvPr>
          <p:cNvSpPr txBox="1"/>
          <p:nvPr/>
        </p:nvSpPr>
        <p:spPr>
          <a:xfrm>
            <a:off x="566636" y="40825"/>
            <a:ext cx="1102873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C00000"/>
                </a:solidFill>
              </a:rPr>
              <a:t>Usando um </a:t>
            </a:r>
            <a:r>
              <a:rPr lang="pt-BR" sz="20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while</a:t>
            </a:r>
            <a:r>
              <a:rPr lang="pt-BR" sz="2000" b="1" dirty="0">
                <a:solidFill>
                  <a:srgbClr val="C00000"/>
                </a:solidFill>
              </a:rPr>
              <a:t> loop</a:t>
            </a:r>
          </a:p>
          <a:p>
            <a:pPr>
              <a:buNone/>
            </a:pPr>
            <a:endParaRPr lang="pt-BR" sz="20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Embora menos comum para percorrer listas, o </a:t>
            </a:r>
            <a:r>
              <a:rPr lang="pt-BR" dirty="0" err="1">
                <a:latin typeface="Courier New" panose="02070309020205020404" pitchFamily="49" charset="0"/>
              </a:rPr>
              <a:t>while</a:t>
            </a:r>
            <a:r>
              <a:rPr lang="pt-BR" dirty="0"/>
              <a:t> loop também pode ser usado, geralmente com uma variável de contador.</a:t>
            </a:r>
          </a:p>
          <a:p>
            <a:pPr>
              <a:buNone/>
            </a:pP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AEAA96-758E-AEA7-3A9E-C389C2A18A93}"/>
              </a:ext>
            </a:extLst>
          </p:cNvPr>
          <p:cNvSpPr txBox="1"/>
          <p:nvPr/>
        </p:nvSpPr>
        <p:spPr>
          <a:xfrm>
            <a:off x="2813726" y="1287878"/>
            <a:ext cx="6094378" cy="535531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# Criando uma lista de números</a:t>
            </a:r>
          </a:p>
          <a:p>
            <a:r>
              <a:rPr lang="pt-BR" dirty="0" err="1"/>
              <a:t>numeros</a:t>
            </a:r>
            <a:r>
              <a:rPr lang="pt-BR" dirty="0"/>
              <a:t> = [10, 20, 30, 40]</a:t>
            </a:r>
          </a:p>
          <a:p>
            <a:endParaRPr lang="pt-BR" dirty="0"/>
          </a:p>
          <a:p>
            <a:r>
              <a:rPr lang="pt-BR" dirty="0"/>
              <a:t>print("Percorrendo a lista de números com um </a:t>
            </a:r>
            <a:r>
              <a:rPr lang="pt-BR" dirty="0" err="1"/>
              <a:t>while</a:t>
            </a:r>
            <a:r>
              <a:rPr lang="pt-BR" dirty="0"/>
              <a:t> loop:")</a:t>
            </a:r>
          </a:p>
          <a:p>
            <a:endParaRPr lang="pt-BR" dirty="0"/>
          </a:p>
          <a:p>
            <a:r>
              <a:rPr lang="pt-BR" dirty="0"/>
              <a:t># Inicializando um contador</a:t>
            </a:r>
          </a:p>
          <a:p>
            <a:r>
              <a:rPr lang="pt-BR" dirty="0"/>
              <a:t>contador = 0</a:t>
            </a:r>
          </a:p>
          <a:p>
            <a:endParaRPr lang="pt-BR" dirty="0"/>
          </a:p>
          <a:p>
            <a:r>
              <a:rPr lang="pt-BR" dirty="0"/>
              <a:t># Usando um </a:t>
            </a:r>
            <a:r>
              <a:rPr lang="pt-BR" dirty="0" err="1"/>
              <a:t>while</a:t>
            </a:r>
            <a:r>
              <a:rPr lang="pt-BR" dirty="0"/>
              <a:t> loop para percorrer a lista</a:t>
            </a:r>
          </a:p>
          <a:p>
            <a:r>
              <a:rPr lang="pt-BR" dirty="0" err="1"/>
              <a:t>while</a:t>
            </a:r>
            <a:r>
              <a:rPr lang="pt-BR" dirty="0"/>
              <a:t> contador &lt; </a:t>
            </a:r>
            <a:r>
              <a:rPr lang="pt-BR" dirty="0" err="1"/>
              <a:t>len</a:t>
            </a:r>
            <a:r>
              <a:rPr lang="pt-BR" dirty="0"/>
              <a:t>(</a:t>
            </a:r>
            <a:r>
              <a:rPr lang="pt-BR" dirty="0" err="1"/>
              <a:t>numeros</a:t>
            </a:r>
            <a:r>
              <a:rPr lang="pt-BR" dirty="0"/>
              <a:t>):</a:t>
            </a:r>
          </a:p>
          <a:p>
            <a:r>
              <a:rPr lang="pt-BR" dirty="0"/>
              <a:t>    print(</a:t>
            </a:r>
            <a:r>
              <a:rPr lang="pt-BR" dirty="0" err="1"/>
              <a:t>f"O</a:t>
            </a:r>
            <a:r>
              <a:rPr lang="pt-BR" dirty="0"/>
              <a:t> número é {</a:t>
            </a:r>
            <a:r>
              <a:rPr lang="pt-BR" dirty="0" err="1"/>
              <a:t>numeros</a:t>
            </a:r>
            <a:r>
              <a:rPr lang="pt-BR" dirty="0"/>
              <a:t>[contador]}")</a:t>
            </a:r>
          </a:p>
          <a:p>
            <a:r>
              <a:rPr lang="pt-BR" dirty="0"/>
              <a:t>    contador += 1 # Incrementa o contador</a:t>
            </a:r>
          </a:p>
          <a:p>
            <a:endParaRPr lang="pt-BR" dirty="0"/>
          </a:p>
          <a:p>
            <a:r>
              <a:rPr lang="pt-BR" dirty="0"/>
              <a:t># Saída:</a:t>
            </a:r>
          </a:p>
          <a:p>
            <a:r>
              <a:rPr lang="pt-BR" dirty="0"/>
              <a:t># Percorrendo a lista de números com um </a:t>
            </a:r>
            <a:r>
              <a:rPr lang="pt-BR" dirty="0" err="1"/>
              <a:t>while</a:t>
            </a:r>
            <a:r>
              <a:rPr lang="pt-BR" dirty="0"/>
              <a:t> loop:</a:t>
            </a:r>
          </a:p>
          <a:p>
            <a:r>
              <a:rPr lang="pt-BR" dirty="0"/>
              <a:t># O número é 10</a:t>
            </a:r>
          </a:p>
          <a:p>
            <a:r>
              <a:rPr lang="pt-BR" dirty="0"/>
              <a:t># O número é 20</a:t>
            </a:r>
          </a:p>
          <a:p>
            <a:r>
              <a:rPr lang="pt-BR" dirty="0"/>
              <a:t># O número é 30</a:t>
            </a:r>
          </a:p>
          <a:p>
            <a:r>
              <a:rPr lang="pt-BR" dirty="0"/>
              <a:t># O número é 40</a:t>
            </a:r>
          </a:p>
        </p:txBody>
      </p:sp>
    </p:spTree>
    <p:extLst>
      <p:ext uri="{BB962C8B-B14F-4D97-AF65-F5344CB8AC3E}">
        <p14:creationId xmlns:p14="http://schemas.microsoft.com/office/powerpoint/2010/main" val="9894560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D048078-1D00-8AE0-1C73-BDF009519089}"/>
              </a:ext>
            </a:extLst>
          </p:cNvPr>
          <p:cNvSpPr txBox="1"/>
          <p:nvPr/>
        </p:nvSpPr>
        <p:spPr>
          <a:xfrm>
            <a:off x="291830" y="535021"/>
            <a:ext cx="1178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COMANDOS PARA LER LISTAS DE DADOS DA ENTRADA DE UM TECLADO E ARMAZENAR EM UMA VARIAVEL DO TIPO LISTA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12DB54-EB0E-EFC9-45AA-4E21B040380C}"/>
              </a:ext>
            </a:extLst>
          </p:cNvPr>
          <p:cNvSpPr txBox="1"/>
          <p:nvPr/>
        </p:nvSpPr>
        <p:spPr>
          <a:xfrm>
            <a:off x="761189" y="120152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Lendo números separados por espaço em uma única linha: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230DB7-76AE-E50C-E89D-ED8FE48B29E0}"/>
              </a:ext>
            </a:extLst>
          </p:cNvPr>
          <p:cNvSpPr txBox="1"/>
          <p:nvPr/>
        </p:nvSpPr>
        <p:spPr>
          <a:xfrm>
            <a:off x="1130840" y="1693012"/>
            <a:ext cx="10017058" cy="9541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entrada = input("Digite os números separados por espaço: ")</a:t>
            </a:r>
          </a:p>
          <a:p>
            <a:r>
              <a:rPr lang="pt-BR" dirty="0" err="1"/>
              <a:t>lista_de_numeros</a:t>
            </a:r>
            <a:r>
              <a:rPr lang="pt-BR" dirty="0"/>
              <a:t> 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= [</a:t>
            </a: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(numero) for numero in </a:t>
            </a: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entrada.split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()]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pt-BR" dirty="0"/>
              <a:t>print("Lista de números:", </a:t>
            </a:r>
            <a:r>
              <a:rPr lang="pt-BR" dirty="0" err="1"/>
              <a:t>lista_de_numeros</a:t>
            </a:r>
            <a:r>
              <a:rPr lang="pt-BR" dirty="0"/>
              <a:t>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AE8A1A-7C50-AFF8-8511-CE67612001B6}"/>
              </a:ext>
            </a:extLst>
          </p:cNvPr>
          <p:cNvSpPr txBox="1"/>
          <p:nvPr/>
        </p:nvSpPr>
        <p:spPr>
          <a:xfrm>
            <a:off x="897377" y="303566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Lendo </a:t>
            </a:r>
            <a:r>
              <a:rPr lang="pt-BR" b="1" dirty="0" err="1">
                <a:solidFill>
                  <a:srgbClr val="FF0000"/>
                </a:solidFill>
              </a:rPr>
              <a:t>strings</a:t>
            </a:r>
            <a:r>
              <a:rPr lang="pt-BR" b="1" dirty="0">
                <a:solidFill>
                  <a:srgbClr val="FF0000"/>
                </a:solidFill>
              </a:rPr>
              <a:t> separadas por espaço em uma única linha: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F6F5A0-3C3F-8615-D017-477502165F68}"/>
              </a:ext>
            </a:extLst>
          </p:cNvPr>
          <p:cNvSpPr txBox="1"/>
          <p:nvPr/>
        </p:nvSpPr>
        <p:spPr>
          <a:xfrm>
            <a:off x="1033564" y="3779994"/>
            <a:ext cx="6094378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entrada = input("Digite as </a:t>
            </a:r>
            <a:r>
              <a:rPr lang="pt-BR" dirty="0" err="1"/>
              <a:t>strings</a:t>
            </a:r>
            <a:r>
              <a:rPr lang="pt-BR" dirty="0"/>
              <a:t> separadas por espaço: ")</a:t>
            </a:r>
          </a:p>
          <a:p>
            <a:r>
              <a:rPr lang="pt-BR" dirty="0" err="1"/>
              <a:t>lista_de_strings</a:t>
            </a:r>
            <a:r>
              <a:rPr lang="pt-BR" dirty="0"/>
              <a:t> = </a:t>
            </a:r>
            <a:r>
              <a:rPr lang="pt-BR" dirty="0" err="1"/>
              <a:t>entrada.split</a:t>
            </a:r>
            <a:r>
              <a:rPr lang="pt-BR" dirty="0"/>
              <a:t>()</a:t>
            </a:r>
          </a:p>
          <a:p>
            <a:r>
              <a:rPr lang="pt-BR" dirty="0"/>
              <a:t>print("Lista de </a:t>
            </a:r>
            <a:r>
              <a:rPr lang="pt-BR" dirty="0" err="1"/>
              <a:t>strings</a:t>
            </a:r>
            <a:r>
              <a:rPr lang="pt-BR" dirty="0"/>
              <a:t>:", </a:t>
            </a:r>
            <a:r>
              <a:rPr lang="pt-BR" dirty="0" err="1"/>
              <a:t>lista_de_strings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3985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3006E29-DBF6-A9DD-D695-97474B36B67B}"/>
              </a:ext>
            </a:extLst>
          </p:cNvPr>
          <p:cNvSpPr txBox="1"/>
          <p:nvPr/>
        </p:nvSpPr>
        <p:spPr>
          <a:xfrm>
            <a:off x="356681" y="1228082"/>
            <a:ext cx="114786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1: Soma de Números Pares - </a:t>
            </a:r>
            <a:r>
              <a:rPr lang="pt-BR" dirty="0"/>
              <a:t>Desenvolva um programa que pede ao usuário para digitar 5 números inteiros. Armazene esses números em uma lista. Em seguida, percorra a lista e calcule a soma de todos os números que forem pares. No final, imprima a soma total e a lista original de números.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2: Média e Contagem de Alunos - </a:t>
            </a:r>
            <a:r>
              <a:rPr lang="pt-BR" dirty="0"/>
              <a:t>Crie um programa que solicita as notas de 4 alunos e as armazena em uma lista. Use um laço de repetição para calcular a média da turma. Depois, percorra a lista novamente para contar quantos alunos obtiveram uma nota acima ou igual à média da turma. Imprima a média geral e a contagem de alunos aprovados.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3: Busca e Remoção de Elementos - </a:t>
            </a:r>
            <a:r>
              <a:rPr lang="pt-BR" dirty="0"/>
              <a:t>Escreva um programa que cria uma lista de 6 nomes de cidades. Peça ao usuário para digitar o nome de uma cidade que ele deseja remover. Percorra a lista e, se a cidade for encontrada, remova-a e imprima a lista atualizada. Se a cidade não estiver na lista, imprima uma mensagem informando que ela não foi encontrada.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4: Maior e Menor Valor - </a:t>
            </a:r>
            <a:r>
              <a:rPr lang="pt-BR" dirty="0"/>
              <a:t>Elabore um programa que pede ao usuário para digitar 10 valores numéricos. Armazene esses valores em uma lista. Utilizando um laço de repetição, encontre o maior e o menor valor presente na lista. Ao final, imprima a lista completa, o maior valor e o menor valor encontrados.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5: Palavras em Ordem Inversa - </a:t>
            </a:r>
            <a:r>
              <a:rPr lang="pt-BR" dirty="0"/>
              <a:t>Desenvolva um programa que solicita ao usuário 5 palavras e as armazena em uma lista. Em seguida, use um laço de repetição para percorrer a lista de trás para frente, imprimindo cada palavra em uma nova linha. O resultado deve ser a lista de palavras em ordem inversa à que foram digitadas.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767224-C2EC-9928-C677-3AB364D33AAC}"/>
              </a:ext>
            </a:extLst>
          </p:cNvPr>
          <p:cNvSpPr txBox="1"/>
          <p:nvPr/>
        </p:nvSpPr>
        <p:spPr>
          <a:xfrm>
            <a:off x="350196" y="262647"/>
            <a:ext cx="10252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EXERCICIO 15 – Elabore programas em Python para os exercícios abaixo</a:t>
            </a:r>
          </a:p>
        </p:txBody>
      </p:sp>
    </p:spTree>
    <p:extLst>
      <p:ext uri="{BB962C8B-B14F-4D97-AF65-F5344CB8AC3E}">
        <p14:creationId xmlns:p14="http://schemas.microsoft.com/office/powerpoint/2010/main" val="42919503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45660" y="0"/>
            <a:ext cx="114095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Comandos de Repetição</a:t>
            </a:r>
          </a:p>
          <a:p>
            <a:endParaRPr lang="pt-BR" sz="2800" dirty="0">
              <a:latin typeface="Calibri" panose="020F0502020204030204" pitchFamily="34" charset="0"/>
            </a:endParaRPr>
          </a:p>
          <a:p>
            <a:r>
              <a:rPr lang="pt-BR" sz="2800" b="1" dirty="0">
                <a:latin typeface="Calibri" panose="020F0502020204030204" pitchFamily="34" charset="0"/>
              </a:rPr>
              <a:t>Comando</a:t>
            </a:r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 for: 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O comando for é usado para iterar sobre uma sequência (exemplo : uma lista) e 		                     executar um conjunto de instruções para cada elemento na sequência.		</a:t>
            </a:r>
            <a:endParaRPr lang="pt-BR" sz="280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r>
              <a:rPr lang="pt-BR" sz="2800" b="1" dirty="0">
                <a:solidFill>
                  <a:srgbClr val="004DBB"/>
                </a:solidFill>
                <a:latin typeface="Calibri" panose="020F0502020204030204" pitchFamily="34" charset="0"/>
              </a:rPr>
              <a:t>		</a:t>
            </a:r>
            <a:endParaRPr lang="pt-BR" sz="36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9817B6-C9B0-4ACF-6A38-1A45C67A1A22}"/>
              </a:ext>
            </a:extLst>
          </p:cNvPr>
          <p:cNvSpPr txBox="1"/>
          <p:nvPr/>
        </p:nvSpPr>
        <p:spPr>
          <a:xfrm>
            <a:off x="2419284" y="2144867"/>
            <a:ext cx="5758774" cy="7386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Calibri" panose="020F0502020204030204" pitchFamily="34" charset="0"/>
              </a:rPr>
              <a:t>for elemento in sequencia:</a:t>
            </a:r>
          </a:p>
          <a:p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	 </a:t>
            </a:r>
            <a:r>
              <a:rPr lang="pt-BR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# código a ser executado para cada elemento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ACE8BB-7C49-B217-38E1-A86E666389D4}"/>
              </a:ext>
            </a:extLst>
          </p:cNvPr>
          <p:cNvSpPr txBox="1"/>
          <p:nvPr/>
        </p:nvSpPr>
        <p:spPr>
          <a:xfrm>
            <a:off x="492869" y="3020363"/>
            <a:ext cx="5758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Exemplos:</a:t>
            </a:r>
            <a:r>
              <a:rPr lang="pt-BR" sz="2800" b="1" dirty="0">
                <a:solidFill>
                  <a:srgbClr val="004DBB"/>
                </a:solidFill>
                <a:latin typeface="Calibri" panose="020F0502020204030204" pitchFamily="34" charset="0"/>
              </a:rPr>
              <a:t>	</a:t>
            </a:r>
            <a:endParaRPr lang="pt-BR" sz="36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DE208E-C57B-6AFC-CC1E-E5095AB603DF}"/>
              </a:ext>
            </a:extLst>
          </p:cNvPr>
          <p:cNvSpPr txBox="1"/>
          <p:nvPr/>
        </p:nvSpPr>
        <p:spPr>
          <a:xfrm>
            <a:off x="1412942" y="3680415"/>
            <a:ext cx="2867228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numeros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= [1, 2, 3, 4, 5]</a:t>
            </a:r>
          </a:p>
          <a:p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for numero in numero</a:t>
            </a:r>
          </a:p>
          <a:p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   print(numero)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5A5697-6053-DEBA-6902-E948DD4CE7E7}"/>
              </a:ext>
            </a:extLst>
          </p:cNvPr>
          <p:cNvSpPr txBox="1"/>
          <p:nvPr/>
        </p:nvSpPr>
        <p:spPr>
          <a:xfrm>
            <a:off x="4767366" y="3653794"/>
            <a:ext cx="4230719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3"/>
            <a:r>
              <a:rPr lang="pt-BR" b="1" dirty="0" err="1">
                <a:latin typeface="+mj-lt"/>
                <a:cs typeface="Arial" panose="020B0604020202020204" pitchFamily="34" charset="0"/>
              </a:rPr>
              <a:t>fruits</a:t>
            </a:r>
            <a:r>
              <a:rPr lang="pt-BR" b="1" dirty="0">
                <a:latin typeface="+mj-lt"/>
                <a:cs typeface="Arial" panose="020B0604020202020204" pitchFamily="34" charset="0"/>
              </a:rPr>
              <a:t> = ["maçã", "banana", "laranja", </a:t>
            </a:r>
            <a:r>
              <a:rPr lang="pt-BR" dirty="0">
                <a:solidFill>
                  <a:prstClr val="black"/>
                </a:solidFill>
                <a:latin typeface="+mj-lt"/>
              </a:rPr>
              <a:t>"</a:t>
            </a:r>
            <a:r>
              <a:rPr lang="pt-BR" b="1" dirty="0">
                <a:solidFill>
                  <a:prstClr val="black"/>
                </a:solidFill>
                <a:latin typeface="+mj-lt"/>
              </a:rPr>
              <a:t>uva"</a:t>
            </a:r>
            <a:r>
              <a:rPr lang="pt-BR" dirty="0">
                <a:solidFill>
                  <a:prstClr val="black"/>
                </a:solidFill>
                <a:latin typeface="+mj-lt"/>
              </a:rPr>
              <a:t>]</a:t>
            </a:r>
          </a:p>
          <a:p>
            <a:pPr marL="0" lvl="3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for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fruit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in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fruits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:</a:t>
            </a:r>
          </a:p>
          <a:p>
            <a:pPr marL="0" lvl="3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 print("Gosto de",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fruit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082BC7-0079-3A36-25F9-DF26B1B50D4D}"/>
              </a:ext>
            </a:extLst>
          </p:cNvPr>
          <p:cNvSpPr txBox="1"/>
          <p:nvPr/>
        </p:nvSpPr>
        <p:spPr>
          <a:xfrm>
            <a:off x="1412942" y="4740577"/>
            <a:ext cx="5017041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87313" lvl="4"/>
            <a:r>
              <a:rPr lang="pt-BR" sz="1800" b="1" dirty="0">
                <a:latin typeface="+mj-lt"/>
                <a:cs typeface="Arial" panose="020B0604020202020204" pitchFamily="34" charset="0"/>
              </a:rPr>
              <a:t>texto = "Olá, mundo!"</a:t>
            </a:r>
          </a:p>
          <a:p>
            <a:pPr marL="87313" lvl="4"/>
            <a:r>
              <a:rPr lang="pt-BR" sz="1800" b="1" dirty="0" err="1">
                <a:latin typeface="+mj-lt"/>
                <a:cs typeface="Arial" panose="020B0604020202020204" pitchFamily="34" charset="0"/>
              </a:rPr>
              <a:t>count</a:t>
            </a:r>
            <a:r>
              <a:rPr lang="pt-BR" sz="1800" b="1" dirty="0">
                <a:latin typeface="+mj-lt"/>
                <a:cs typeface="Arial" panose="020B0604020202020204" pitchFamily="34" charset="0"/>
              </a:rPr>
              <a:t> = 0</a:t>
            </a:r>
          </a:p>
          <a:p>
            <a:pPr marL="87313" lvl="4"/>
            <a:r>
              <a:rPr lang="pt-BR" sz="1800" b="1" dirty="0">
                <a:latin typeface="+mj-lt"/>
                <a:cs typeface="Arial" panose="020B0604020202020204" pitchFamily="34" charset="0"/>
              </a:rPr>
              <a:t>for char in texto:</a:t>
            </a:r>
          </a:p>
          <a:p>
            <a:pPr marL="87313" lvl="4"/>
            <a:r>
              <a:rPr lang="en-US" sz="1800" b="1" dirty="0">
                <a:latin typeface="+mj-lt"/>
                <a:cs typeface="Arial" panose="020B0604020202020204" pitchFamily="34" charset="0"/>
              </a:rPr>
              <a:t>    if char != ‘  ' and char != ',' and char != '!':</a:t>
            </a:r>
          </a:p>
          <a:p>
            <a:pPr marL="87313" lvl="4"/>
            <a:r>
              <a:rPr lang="pt-BR" sz="1800" b="1" dirty="0">
                <a:latin typeface="+mj-lt"/>
                <a:cs typeface="Arial" panose="020B0604020202020204" pitchFamily="34" charset="0"/>
              </a:rPr>
              <a:t>         </a:t>
            </a:r>
            <a:r>
              <a:rPr lang="pt-BR" sz="1800" b="1" dirty="0" err="1">
                <a:latin typeface="+mj-lt"/>
                <a:cs typeface="Arial" panose="020B0604020202020204" pitchFamily="34" charset="0"/>
              </a:rPr>
              <a:t>count</a:t>
            </a:r>
            <a:r>
              <a:rPr lang="pt-BR" sz="1800" b="1" dirty="0">
                <a:latin typeface="+mj-lt"/>
                <a:cs typeface="Arial" panose="020B0604020202020204" pitchFamily="34" charset="0"/>
              </a:rPr>
              <a:t> += 1</a:t>
            </a:r>
          </a:p>
          <a:p>
            <a:pPr marL="87313" lvl="4"/>
            <a:r>
              <a:rPr lang="pt-BR" sz="1800" b="1" dirty="0">
                <a:latin typeface="+mj-lt"/>
                <a:cs typeface="Arial" panose="020B0604020202020204" pitchFamily="34" charset="0"/>
              </a:rPr>
              <a:t>print("O número de caracteres na </a:t>
            </a:r>
            <a:r>
              <a:rPr lang="pt-BR" sz="1800" b="1" dirty="0" err="1">
                <a:latin typeface="+mj-lt"/>
                <a:cs typeface="Arial" panose="020B0604020202020204" pitchFamily="34" charset="0"/>
              </a:rPr>
              <a:t>string</a:t>
            </a:r>
            <a:r>
              <a:rPr lang="pt-BR" sz="1800" b="1" dirty="0">
                <a:latin typeface="+mj-lt"/>
                <a:cs typeface="Arial" panose="020B0604020202020204" pitchFamily="34" charset="0"/>
              </a:rPr>
              <a:t> é:", </a:t>
            </a:r>
            <a:r>
              <a:rPr lang="pt-BR" sz="1800" b="1" dirty="0" err="1">
                <a:latin typeface="+mj-lt"/>
                <a:cs typeface="Arial" panose="020B0604020202020204" pitchFamily="34" charset="0"/>
              </a:rPr>
              <a:t>count</a:t>
            </a:r>
            <a:r>
              <a:rPr lang="pt-BR" sz="1800" b="1" dirty="0">
                <a:latin typeface="+mj-lt"/>
                <a:cs typeface="Arial" panose="020B0604020202020204" pitchFamily="34" charset="0"/>
              </a:rPr>
              <a:t>)</a:t>
            </a:r>
            <a:endParaRPr lang="pt-B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68104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5968" y="166568"/>
            <a:ext cx="11313994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Exemplos com Numero usando o parâmetro </a:t>
            </a:r>
            <a:r>
              <a:rPr lang="pt-BR" sz="4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range</a:t>
            </a:r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:</a:t>
            </a:r>
          </a:p>
          <a:p>
            <a:r>
              <a:rPr lang="pt-BR" sz="2800" b="1" dirty="0">
                <a:solidFill>
                  <a:srgbClr val="004DBB"/>
                </a:solidFill>
                <a:latin typeface="Calibri" panose="020F0502020204030204" pitchFamily="34" charset="0"/>
              </a:rPr>
              <a:t>	</a:t>
            </a:r>
            <a:endParaRPr lang="pt-BR" sz="36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Imprimindo números de 1 a 5 (veja que o 1 é o limite inferior e o 6 é o limite superior)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range(1, 6):</a:t>
            </a:r>
          </a:p>
          <a:p>
            <a:pPr lvl="3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</a:p>
          <a:p>
            <a:endParaRPr lang="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Calculando e Imprimindo a soma dos primeiros n números</a:t>
            </a:r>
          </a:p>
          <a:p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 =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(input("Digite um número inteiro: "))</a:t>
            </a:r>
          </a:p>
          <a:p>
            <a:pPr lvl="3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sum = 0</a:t>
            </a:r>
          </a:p>
          <a:p>
            <a:pPr lvl="3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range(1, n+1):</a:t>
            </a:r>
          </a:p>
          <a:p>
            <a:pPr lvl="3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sum += i</a:t>
            </a:r>
          </a:p>
          <a:p>
            <a:pPr lvl="3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print("A soma dos primeiros", n, "números é:", sum)</a:t>
            </a:r>
          </a:p>
          <a:p>
            <a:pPr lvl="3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3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Imprimindo uma tabuada de Multiplicação</a:t>
            </a:r>
          </a:p>
          <a:p>
            <a:pPr marL="0" lvl="3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num =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(input("Digite um número para ver a sua tabuada de multiplicação: "))</a:t>
            </a:r>
          </a:p>
          <a:p>
            <a:pPr lvl="3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range(1, 11):</a:t>
            </a:r>
          </a:p>
          <a:p>
            <a:pPr lvl="3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   print(num, "x", i, "=", num * i)</a:t>
            </a:r>
            <a:endParaRPr lang="p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630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91236" y="-386317"/>
            <a:ext cx="1140952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36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pt-BR" sz="3600" b="1" dirty="0">
                <a:latin typeface="Calibri" panose="020F0502020204030204" pitchFamily="34" charset="0"/>
              </a:rPr>
              <a:t>Comando</a:t>
            </a:r>
            <a:r>
              <a:rPr lang="pt-BR" sz="36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pt-BR" sz="3600" b="1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while</a:t>
            </a:r>
            <a:r>
              <a:rPr lang="pt-BR" sz="3600" b="1" dirty="0">
                <a:solidFill>
                  <a:srgbClr val="FF0000"/>
                </a:solidFill>
                <a:latin typeface="Calibri" panose="020F0502020204030204" pitchFamily="34" charset="0"/>
              </a:rPr>
              <a:t>: 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O comando </a:t>
            </a:r>
            <a:r>
              <a:rPr lang="pt-BR" sz="2000" dirty="0" err="1">
                <a:solidFill>
                  <a:prstClr val="black"/>
                </a:solidFill>
                <a:latin typeface="Calibri" panose="020F0502020204030204" pitchFamily="34" charset="0"/>
              </a:rPr>
              <a:t>while</a:t>
            </a:r>
            <a:r>
              <a:rPr lang="pt-BR" sz="2000" dirty="0">
                <a:solidFill>
                  <a:prstClr val="black"/>
                </a:solidFill>
                <a:latin typeface="Calibri" panose="020F0502020204030204" pitchFamily="34" charset="0"/>
              </a:rPr>
              <a:t> é usado para executar um bloco de código repetidamente 			        enquanto uma condição for verdadeira.</a:t>
            </a:r>
          </a:p>
          <a:p>
            <a:pPr lvl="6"/>
            <a:endParaRPr lang="pt-BR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0027DF-7758-0043-8045-0EA564E144E9}"/>
              </a:ext>
            </a:extLst>
          </p:cNvPr>
          <p:cNvSpPr txBox="1"/>
          <p:nvPr/>
        </p:nvSpPr>
        <p:spPr>
          <a:xfrm>
            <a:off x="940341" y="1279984"/>
            <a:ext cx="10116766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73050" lvl="4" indent="87313"/>
            <a:r>
              <a:rPr lang="pt-BR" sz="2400" i="1" dirty="0" err="1">
                <a:latin typeface="Calibri" panose="020F0502020204030204" pitchFamily="34" charset="0"/>
              </a:rPr>
              <a:t>while</a:t>
            </a:r>
            <a:r>
              <a:rPr lang="pt-BR" sz="2400" i="1" dirty="0">
                <a:latin typeface="Calibri" panose="020F0502020204030204" pitchFamily="34" charset="0"/>
              </a:rPr>
              <a:t> condição:</a:t>
            </a:r>
          </a:p>
          <a:p>
            <a:pPr marL="273050" lvl="4" indent="87313"/>
            <a:r>
              <a:rPr lang="pt-BR" sz="2400" i="1" dirty="0">
                <a:latin typeface="Calibri" panose="020F0502020204030204" pitchFamily="34" charset="0"/>
              </a:rPr>
              <a:t>	# código a ser executado enquanto a condição for verdadeira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82CD7C-6737-C7E4-6DBA-1BB759EFCE5E}"/>
              </a:ext>
            </a:extLst>
          </p:cNvPr>
          <p:cNvSpPr txBox="1"/>
          <p:nvPr/>
        </p:nvSpPr>
        <p:spPr>
          <a:xfrm>
            <a:off x="535118" y="2624476"/>
            <a:ext cx="10927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Exemplos:</a:t>
            </a:r>
            <a:endParaRPr lang="pt-BR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EE118E-F537-466A-919E-9349C4D8218E}"/>
              </a:ext>
            </a:extLst>
          </p:cNvPr>
          <p:cNvSpPr txBox="1"/>
          <p:nvPr/>
        </p:nvSpPr>
        <p:spPr>
          <a:xfrm>
            <a:off x="2687265" y="2624476"/>
            <a:ext cx="3518981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87313" lvl="6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# imprimindo </a:t>
            </a:r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numeros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de o a 4</a:t>
            </a:r>
          </a:p>
          <a:p>
            <a:pPr marL="87313" lvl="6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contador = 0</a:t>
            </a:r>
          </a:p>
          <a:p>
            <a:pPr marL="87313" lvl="6"/>
            <a:r>
              <a:rPr lang="pt-BR" dirty="0" err="1">
                <a:solidFill>
                  <a:prstClr val="black"/>
                </a:solidFill>
                <a:latin typeface="Calibri" panose="020F0502020204030204" pitchFamily="34" charset="0"/>
              </a:rPr>
              <a:t>while</a:t>
            </a:r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contador &lt; 5:</a:t>
            </a:r>
          </a:p>
          <a:p>
            <a:pPr marL="87313" lvl="6"/>
            <a:r>
              <a:rPr lang="pt-BR" dirty="0">
                <a:solidFill>
                  <a:prstClr val="black"/>
                </a:solidFill>
                <a:latin typeface="Calibri" panose="020F0502020204030204" pitchFamily="34" charset="0"/>
              </a:rPr>
              <a:t>           print(contador)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6D2E9B-F744-37BE-E7B1-0EFF2B24A600}"/>
              </a:ext>
            </a:extLst>
          </p:cNvPr>
          <p:cNvSpPr txBox="1"/>
          <p:nvPr/>
        </p:nvSpPr>
        <p:spPr>
          <a:xfrm>
            <a:off x="5367952" y="4170534"/>
            <a:ext cx="5449205" cy="20621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Calibri" panose="020F0502020204030204" pitchFamily="34" charset="0"/>
              </a:rPr>
              <a:t>#Soma dos primeiros n números inteiro</a:t>
            </a:r>
            <a:r>
              <a:rPr lang="pt-BR" sz="1400" dirty="0">
                <a:latin typeface="Calibri" panose="020F0502020204030204" pitchFamily="34" charset="0"/>
              </a:rPr>
              <a:t>s</a:t>
            </a:r>
            <a:r>
              <a:rPr lang="pt-BR" sz="2000" b="1" dirty="0">
                <a:latin typeface="Calibri" panose="020F0502020204030204" pitchFamily="34" charset="0"/>
              </a:rPr>
              <a:t>:</a:t>
            </a:r>
          </a:p>
          <a:p>
            <a:pPr marL="0" lvl="2"/>
            <a:r>
              <a:rPr lang="pt-BR" dirty="0">
                <a:latin typeface="Calibri" panose="020F0502020204030204" pitchFamily="34" charset="0"/>
              </a:rPr>
              <a:t>n = </a:t>
            </a:r>
            <a:r>
              <a:rPr lang="pt-BR" dirty="0" err="1">
                <a:latin typeface="Calibri" panose="020F0502020204030204" pitchFamily="34" charset="0"/>
              </a:rPr>
              <a:t>int</a:t>
            </a:r>
            <a:r>
              <a:rPr lang="pt-BR" dirty="0">
                <a:latin typeface="Calibri" panose="020F0502020204030204" pitchFamily="34" charset="0"/>
              </a:rPr>
              <a:t>(input("Digite um número inteiro positivo: "))</a:t>
            </a:r>
          </a:p>
          <a:p>
            <a:pPr marL="0" lvl="2"/>
            <a:r>
              <a:rPr lang="pt-BR" dirty="0">
                <a:latin typeface="Calibri" panose="020F0502020204030204" pitchFamily="34" charset="0"/>
              </a:rPr>
              <a:t>sum = 0</a:t>
            </a:r>
          </a:p>
          <a:p>
            <a:pPr marL="0" lvl="2"/>
            <a:r>
              <a:rPr lang="pt-BR" dirty="0" err="1">
                <a:latin typeface="Calibri" panose="020F0502020204030204" pitchFamily="34" charset="0"/>
              </a:rPr>
              <a:t>while</a:t>
            </a:r>
            <a:r>
              <a:rPr lang="pt-BR" dirty="0">
                <a:latin typeface="Calibri" panose="020F0502020204030204" pitchFamily="34" charset="0"/>
              </a:rPr>
              <a:t> n &gt; 0:</a:t>
            </a:r>
          </a:p>
          <a:p>
            <a:pPr marL="0" lvl="2"/>
            <a:r>
              <a:rPr lang="pt-BR" dirty="0">
                <a:latin typeface="Calibri" panose="020F0502020204030204" pitchFamily="34" charset="0"/>
              </a:rPr>
              <a:t>    sum += n</a:t>
            </a:r>
          </a:p>
          <a:p>
            <a:pPr marL="0" lvl="2"/>
            <a:r>
              <a:rPr lang="pt-BR" dirty="0">
                <a:latin typeface="Calibri" panose="020F0502020204030204" pitchFamily="34" charset="0"/>
              </a:rPr>
              <a:t>    n -= 1</a:t>
            </a:r>
          </a:p>
          <a:p>
            <a:pPr marL="0" lvl="2"/>
            <a:r>
              <a:rPr lang="pt-BR" dirty="0">
                <a:latin typeface="Calibri" panose="020F0502020204030204" pitchFamily="34" charset="0"/>
              </a:rPr>
              <a:t>print("A soma dos primeiros números inteiros é:", sum)</a:t>
            </a:r>
            <a:endParaRPr lang="pt" dirty="0">
              <a:latin typeface="Calibri" panose="020F050202020403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44F9BF9-1A2E-000C-886B-E46B845E14BE}"/>
              </a:ext>
            </a:extLst>
          </p:cNvPr>
          <p:cNvSpPr txBox="1"/>
          <p:nvPr/>
        </p:nvSpPr>
        <p:spPr>
          <a:xfrm>
            <a:off x="940341" y="4207134"/>
            <a:ext cx="3989468" cy="20313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88900" lvl="2"/>
            <a:r>
              <a:rPr lang="pt-BR" dirty="0">
                <a:latin typeface="Calibri" panose="020F0502020204030204" pitchFamily="34" charset="0"/>
              </a:rPr>
              <a:t># fazendo uma contagem regressiva </a:t>
            </a:r>
          </a:p>
          <a:p>
            <a:pPr marL="88900" lvl="2"/>
            <a:r>
              <a:rPr lang="pt-BR" dirty="0">
                <a:latin typeface="Calibri" panose="020F0502020204030204" pitchFamily="34" charset="0"/>
              </a:rPr>
              <a:t># para lançamento de um </a:t>
            </a:r>
            <a:r>
              <a:rPr lang="pt-BR" dirty="0" err="1">
                <a:latin typeface="Calibri" panose="020F0502020204030204" pitchFamily="34" charset="0"/>
              </a:rPr>
              <a:t>foquete</a:t>
            </a:r>
            <a:endParaRPr lang="pt-BR" dirty="0">
              <a:latin typeface="Calibri" panose="020F0502020204030204" pitchFamily="34" charset="0"/>
            </a:endParaRPr>
          </a:p>
          <a:p>
            <a:pPr marL="88900" lvl="2"/>
            <a:r>
              <a:rPr lang="pt-BR" dirty="0" err="1">
                <a:latin typeface="Calibri" panose="020F0502020204030204" pitchFamily="34" charset="0"/>
              </a:rPr>
              <a:t>countdown</a:t>
            </a:r>
            <a:r>
              <a:rPr lang="pt-BR" dirty="0">
                <a:latin typeface="Calibri" panose="020F0502020204030204" pitchFamily="34" charset="0"/>
              </a:rPr>
              <a:t> = 10</a:t>
            </a:r>
          </a:p>
          <a:p>
            <a:pPr marL="88900" lvl="2"/>
            <a:r>
              <a:rPr lang="pt-BR" dirty="0" err="1">
                <a:latin typeface="Calibri" panose="020F0502020204030204" pitchFamily="34" charset="0"/>
              </a:rPr>
              <a:t>while</a:t>
            </a:r>
            <a:r>
              <a:rPr lang="pt-BR" dirty="0">
                <a:latin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</a:rPr>
              <a:t>countdown</a:t>
            </a:r>
            <a:r>
              <a:rPr lang="pt-BR" dirty="0">
                <a:latin typeface="Calibri" panose="020F0502020204030204" pitchFamily="34" charset="0"/>
              </a:rPr>
              <a:t> &gt; 0:</a:t>
            </a:r>
          </a:p>
          <a:p>
            <a:pPr marL="88900" lvl="2"/>
            <a:r>
              <a:rPr lang="pt-BR" dirty="0">
                <a:latin typeface="Calibri" panose="020F0502020204030204" pitchFamily="34" charset="0"/>
              </a:rPr>
              <a:t>         print(</a:t>
            </a:r>
            <a:r>
              <a:rPr lang="pt-BR" dirty="0" err="1">
                <a:latin typeface="Calibri" panose="020F0502020204030204" pitchFamily="34" charset="0"/>
              </a:rPr>
              <a:t>countdown</a:t>
            </a:r>
            <a:r>
              <a:rPr lang="pt-BR" dirty="0">
                <a:latin typeface="Calibri" panose="020F0502020204030204" pitchFamily="34" charset="0"/>
              </a:rPr>
              <a:t>)</a:t>
            </a:r>
          </a:p>
          <a:p>
            <a:pPr marL="88900" lvl="2"/>
            <a:r>
              <a:rPr lang="pt-BR" dirty="0">
                <a:latin typeface="Calibri" panose="020F0502020204030204" pitchFamily="34" charset="0"/>
              </a:rPr>
              <a:t>         </a:t>
            </a:r>
            <a:r>
              <a:rPr lang="pt-BR" dirty="0" err="1">
                <a:latin typeface="Calibri" panose="020F0502020204030204" pitchFamily="34" charset="0"/>
              </a:rPr>
              <a:t>countdown</a:t>
            </a:r>
            <a:r>
              <a:rPr lang="pt-BR" dirty="0">
                <a:latin typeface="Calibri" panose="020F0502020204030204" pitchFamily="34" charset="0"/>
              </a:rPr>
              <a:t> -= 1</a:t>
            </a:r>
          </a:p>
          <a:p>
            <a:pPr marL="88900" lvl="2"/>
            <a:r>
              <a:rPr lang="pt-BR" dirty="0">
                <a:latin typeface="Calibri" panose="020F0502020204030204" pitchFamily="34" charset="0"/>
              </a:rPr>
              <a:t>print("Lançamento!")</a:t>
            </a:r>
            <a:endParaRPr lang="pt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4240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95785" y="245660"/>
            <a:ext cx="11409528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Palavras-chave de controle de loop:</a:t>
            </a:r>
          </a:p>
          <a:p>
            <a:endParaRPr lang="pt-BR" sz="32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Encerra imediatamente o loop.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Pula o restante do código no loop e passa para a próxima iteração.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pt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solidFill>
                  <a:srgbClr val="004D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break:</a:t>
            </a:r>
          </a:p>
          <a:p>
            <a:endParaRPr lang="pt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numeros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[1, 2, 3, 4, 5]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numero in </a:t>
            </a:r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numeros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numero == 3: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pPr lvl="2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(numero)</a:t>
            </a:r>
          </a:p>
          <a:p>
            <a:endParaRPr lang="pt" b="1" dirty="0">
              <a:solidFill>
                <a:srgbClr val="004D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solidFill>
                  <a:srgbClr val="004D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continue:</a:t>
            </a:r>
          </a:p>
          <a:p>
            <a:endParaRPr lang="pt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numeros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[1, 2, 3, 4, 5]</a:t>
            </a:r>
          </a:p>
          <a:p>
            <a:pPr lvl="3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numero in </a:t>
            </a:r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numeros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3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numero == 3:</a:t>
            </a:r>
          </a:p>
          <a:p>
            <a:pPr lvl="3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continue</a:t>
            </a:r>
          </a:p>
          <a:p>
            <a:pPr lvl="3"/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pt-B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(numero)</a:t>
            </a:r>
          </a:p>
          <a:p>
            <a:endParaRPr lang="pt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8275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63207" y="51181"/>
            <a:ext cx="11664942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6">
                    <a:lumMod val="75000"/>
                  </a:schemeClr>
                </a:solidFill>
              </a:rPr>
              <a:t>RESUMINDO  Comandos de Repetição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63207" y="1006217"/>
            <a:ext cx="5741808" cy="230832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for </a:t>
            </a:r>
            <a:r>
              <a:rPr lang="pt-BR" b="1" dirty="0"/>
              <a:t>&lt;nome variável&gt;</a:t>
            </a:r>
            <a:r>
              <a:rPr lang="pt-BR" dirty="0"/>
              <a:t> </a:t>
            </a:r>
            <a:r>
              <a:rPr lang="pt-BR" b="1" dirty="0">
                <a:solidFill>
                  <a:srgbClr val="FF0000"/>
                </a:solidFill>
              </a:rPr>
              <a:t>in </a:t>
            </a:r>
            <a:r>
              <a:rPr lang="pt-BR" b="1" dirty="0"/>
              <a:t>&lt;iteráve</a:t>
            </a:r>
            <a:r>
              <a:rPr lang="pt-BR" dirty="0"/>
              <a:t>l&gt;:</a:t>
            </a:r>
          </a:p>
          <a:p>
            <a:endParaRPr lang="pt" dirty="0"/>
          </a:p>
          <a:p>
            <a:pPr lvl="1"/>
            <a:r>
              <a:rPr lang="pt-BR" b="1" dirty="0"/>
              <a:t>&lt;nome variável</a:t>
            </a:r>
            <a:r>
              <a:rPr lang="pt-BR" dirty="0"/>
              <a:t>&gt; é o nome da variável que vai receber os elemento de &lt;iterável&gt;.</a:t>
            </a:r>
          </a:p>
          <a:p>
            <a:pPr lvl="1"/>
            <a:endParaRPr lang="pt-BR" dirty="0"/>
          </a:p>
          <a:p>
            <a:pPr lvl="1"/>
            <a:r>
              <a:rPr lang="pt-BR" b="1" dirty="0"/>
              <a:t>&lt;iterável&gt; </a:t>
            </a:r>
            <a:r>
              <a:rPr lang="pt-BR" dirty="0"/>
              <a:t>é o container de dados sobre o qual vamos iterar, podendo ser: uma lista, uma </a:t>
            </a:r>
            <a:r>
              <a:rPr lang="pt-BR" dirty="0" err="1"/>
              <a:t>tupla</a:t>
            </a:r>
            <a:r>
              <a:rPr lang="pt-BR" dirty="0"/>
              <a:t>, uma </a:t>
            </a:r>
            <a:r>
              <a:rPr lang="pt-BR" dirty="0" err="1"/>
              <a:t>string</a:t>
            </a:r>
            <a:r>
              <a:rPr lang="pt-BR" dirty="0"/>
              <a:t>, um dicionário, entre outros.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296068" y="1006217"/>
            <a:ext cx="5632081" cy="1754326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while</a:t>
            </a:r>
            <a:r>
              <a:rPr lang="pt-BR" dirty="0"/>
              <a:t> </a:t>
            </a:r>
            <a:r>
              <a:rPr lang="pt-BR" b="1" dirty="0"/>
              <a:t>condição</a:t>
            </a:r>
            <a:r>
              <a:rPr lang="pt-BR" dirty="0"/>
              <a:t>:</a:t>
            </a:r>
          </a:p>
          <a:p>
            <a:r>
              <a:rPr lang="pt-BR" dirty="0"/>
              <a:t>           comandos1</a:t>
            </a:r>
          </a:p>
          <a:p>
            <a:r>
              <a:rPr lang="pt-BR" dirty="0"/>
              <a:t>           comandos2</a:t>
            </a:r>
          </a:p>
          <a:p>
            <a:r>
              <a:rPr lang="pt-BR" dirty="0"/>
              <a:t>            ....................</a:t>
            </a:r>
          </a:p>
          <a:p>
            <a:r>
              <a:rPr lang="pt-BR" dirty="0"/>
              <a:t>            </a:t>
            </a:r>
            <a:r>
              <a:rPr lang="pt-BR" dirty="0" err="1"/>
              <a:t>comandosN</a:t>
            </a:r>
            <a:endParaRPr lang="pt-BR" dirty="0"/>
          </a:p>
          <a:p>
            <a:r>
              <a:rPr lang="pt-BR" dirty="0"/>
              <a:t>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63207" y="3345684"/>
            <a:ext cx="5741808" cy="92333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lista = [1, 2, 3, 4, 5]</a:t>
            </a:r>
          </a:p>
          <a:p>
            <a:r>
              <a:rPr lang="pt-BR" dirty="0"/>
              <a:t>for item in lista:</a:t>
            </a:r>
          </a:p>
          <a:p>
            <a:r>
              <a:rPr lang="pt-BR" dirty="0"/>
              <a:t>       </a:t>
            </a:r>
            <a:r>
              <a:rPr lang="pt-BR" dirty="0" err="1"/>
              <a:t>print</a:t>
            </a:r>
            <a:r>
              <a:rPr lang="pt-BR" dirty="0"/>
              <a:t>(item)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296068" y="2799288"/>
            <a:ext cx="5632081" cy="120032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 = 0</a:t>
            </a:r>
          </a:p>
          <a:p>
            <a:r>
              <a:rPr lang="pt-BR" dirty="0" err="1"/>
              <a:t>while</a:t>
            </a:r>
            <a:r>
              <a:rPr lang="pt-BR" dirty="0"/>
              <a:t> n &lt; 3:</a:t>
            </a:r>
          </a:p>
          <a:p>
            <a:r>
              <a:rPr lang="pt-BR" dirty="0"/>
              <a:t>    </a:t>
            </a:r>
            <a:r>
              <a:rPr lang="pt-BR" dirty="0" err="1"/>
              <a:t>print</a:t>
            </a:r>
            <a:r>
              <a:rPr lang="pt-BR" dirty="0"/>
              <a:t>(n)</a:t>
            </a:r>
          </a:p>
          <a:p>
            <a:r>
              <a:rPr lang="pt-BR" dirty="0"/>
              <a:t>    n += 1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6296068" y="3999617"/>
            <a:ext cx="5632081" cy="175432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contador = 0</a:t>
            </a:r>
          </a:p>
          <a:p>
            <a:r>
              <a:rPr lang="pt-BR" dirty="0" err="1"/>
              <a:t>while</a:t>
            </a:r>
            <a:r>
              <a:rPr lang="pt-BR" dirty="0"/>
              <a:t> contador &lt; 10:</a:t>
            </a:r>
          </a:p>
          <a:p>
            <a:r>
              <a:rPr lang="pt-BR" dirty="0"/>
              <a:t>            contador += 1</a:t>
            </a:r>
          </a:p>
          <a:p>
            <a:r>
              <a:rPr lang="pt-BR" dirty="0"/>
              <a:t>             </a:t>
            </a:r>
            <a:r>
              <a:rPr lang="pt-BR" dirty="0" err="1"/>
              <a:t>print</a:t>
            </a:r>
            <a:r>
              <a:rPr lang="pt-BR" dirty="0"/>
              <a:t>(</a:t>
            </a:r>
            <a:r>
              <a:rPr lang="pt-BR" dirty="0" err="1"/>
              <a:t>f'Valor</a:t>
            </a:r>
            <a:r>
              <a:rPr lang="pt-BR" dirty="0"/>
              <a:t> do contador é {contador}')    </a:t>
            </a:r>
          </a:p>
          <a:p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</a:t>
            </a:r>
            <a:r>
              <a:rPr lang="pt-BR" dirty="0" err="1"/>
              <a:t>print</a:t>
            </a:r>
            <a:r>
              <a:rPr lang="pt-BR" dirty="0"/>
              <a:t>(</a:t>
            </a:r>
            <a:r>
              <a:rPr lang="pt-BR" dirty="0" err="1"/>
              <a:t>f'Fim</a:t>
            </a:r>
            <a:r>
              <a:rPr lang="pt-BR" dirty="0"/>
              <a:t> do </a:t>
            </a:r>
            <a:r>
              <a:rPr lang="pt-BR" dirty="0" err="1"/>
              <a:t>while</a:t>
            </a:r>
            <a:r>
              <a:rPr lang="pt-BR" dirty="0"/>
              <a:t> e o valor do contador é {contador}')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63207" y="4322691"/>
            <a:ext cx="5741808" cy="1200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for item in sequencia:</a:t>
            </a:r>
          </a:p>
          <a:p>
            <a:r>
              <a:rPr lang="pt-BR" dirty="0"/>
              <a:t>    </a:t>
            </a:r>
            <a:r>
              <a:rPr lang="pt-BR" dirty="0" err="1"/>
              <a:t>print</a:t>
            </a:r>
            <a:r>
              <a:rPr lang="pt-BR" dirty="0"/>
              <a:t>(item)</a:t>
            </a:r>
          </a:p>
          <a:p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</a:t>
            </a:r>
            <a:r>
              <a:rPr lang="pt-BR" dirty="0" err="1"/>
              <a:t>print</a:t>
            </a:r>
            <a:r>
              <a:rPr lang="pt-BR" dirty="0"/>
              <a:t>('Todos </a:t>
            </a:r>
            <a:r>
              <a:rPr lang="pt-BR" dirty="0" err="1"/>
              <a:t>items</a:t>
            </a:r>
            <a:r>
              <a:rPr lang="pt-BR" dirty="0"/>
              <a:t> foram exibidos  c /sucesso')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74663" y="5576698"/>
            <a:ext cx="5630351" cy="120032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notas = { '</a:t>
            </a:r>
            <a:r>
              <a:rPr lang="pt-BR" dirty="0" err="1"/>
              <a:t>Potuguês</a:t>
            </a:r>
            <a:r>
              <a:rPr lang="pt-BR" dirty="0"/>
              <a:t>': 7,   'Matemática': 9, 'Lógica': 7,  'Algoritmo': 7}</a:t>
            </a:r>
          </a:p>
          <a:p>
            <a:r>
              <a:rPr lang="en-US" dirty="0"/>
              <a:t>for </a:t>
            </a:r>
            <a:r>
              <a:rPr lang="en-US" dirty="0" err="1"/>
              <a:t>chave</a:t>
            </a:r>
            <a:r>
              <a:rPr lang="en-US" dirty="0"/>
              <a:t>, valor in </a:t>
            </a:r>
            <a:r>
              <a:rPr lang="en-US" dirty="0" err="1"/>
              <a:t>notas.items</a:t>
            </a:r>
            <a:r>
              <a:rPr lang="en-US" dirty="0"/>
              <a:t>():</a:t>
            </a:r>
          </a:p>
          <a:p>
            <a:r>
              <a:rPr lang="pt-BR" dirty="0"/>
              <a:t>       </a:t>
            </a:r>
            <a:r>
              <a:rPr lang="pt-BR" dirty="0" err="1"/>
              <a:t>print</a:t>
            </a:r>
            <a:r>
              <a:rPr lang="pt-BR" dirty="0"/>
              <a:t>(f"{chave}: {valor}")</a:t>
            </a:r>
          </a:p>
        </p:txBody>
      </p:sp>
    </p:spTree>
    <p:extLst>
      <p:ext uri="{BB962C8B-B14F-4D97-AF65-F5344CB8AC3E}">
        <p14:creationId xmlns:p14="http://schemas.microsoft.com/office/powerpoint/2010/main" val="5893039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-5697"/>
            <a:ext cx="12192000" cy="10772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Parâmetros para Alterar o Fluxo dos Comandos de Repetição</a:t>
            </a:r>
          </a:p>
          <a:p>
            <a:endParaRPr lang="pt-BR" dirty="0"/>
          </a:p>
          <a:p>
            <a:r>
              <a:rPr lang="pt-BR" dirty="0"/>
              <a:t>3 comandos que auxiliam quando queremos alterar o fluxo de uma estrutura de repetição : </a:t>
            </a:r>
            <a:r>
              <a:rPr lang="pt-BR" b="1" dirty="0"/>
              <a:t>break e continue </a:t>
            </a:r>
            <a:endParaRPr lang="pt-BR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95536" y="1106117"/>
            <a:ext cx="5841242" cy="129266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break </a:t>
            </a:r>
            <a:r>
              <a:rPr lang="pt-BR" dirty="0"/>
              <a:t>- É usado para finalizar um loop, isto é, é usado para parar sua execução.</a:t>
            </a:r>
          </a:p>
          <a:p>
            <a:r>
              <a:rPr lang="pt-BR" dirty="0"/>
              <a:t>Geralmente vem acompanhado de alguma condição para isso, com um </a:t>
            </a:r>
            <a:r>
              <a:rPr lang="pt-BR" dirty="0" err="1"/>
              <a:t>if</a:t>
            </a:r>
            <a:r>
              <a:rPr lang="pt-BR" dirty="0"/>
              <a:t>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296068" y="1074457"/>
            <a:ext cx="5632081" cy="190821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continue</a:t>
            </a:r>
          </a:p>
          <a:p>
            <a:r>
              <a:rPr lang="pt-BR" dirty="0"/>
              <a:t>Funciona de maneira similar ao break, contudo </a:t>
            </a:r>
            <a:r>
              <a:rPr lang="pt-BR" b="1" dirty="0">
                <a:solidFill>
                  <a:srgbClr val="FF0000"/>
                </a:solidFill>
              </a:rPr>
              <a:t>ao invés de encerrar o loop ele pula todo código que estiver abaixo dele (dentro do loop) partindo para a próxima iteração.</a:t>
            </a:r>
          </a:p>
          <a:p>
            <a:endParaRPr lang="pt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95536" y="2426897"/>
            <a:ext cx="5841242" cy="206210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for num in range(10):</a:t>
            </a:r>
          </a:p>
          <a:p>
            <a:r>
              <a:rPr lang="pt-BR" dirty="0"/>
              <a:t>    # Se o número for igual a = 5, devemos parar o loop</a:t>
            </a:r>
          </a:p>
          <a:p>
            <a:r>
              <a:rPr lang="pt-BR" dirty="0"/>
              <a:t>    </a:t>
            </a:r>
            <a:r>
              <a:rPr lang="pt-BR" dirty="0" err="1"/>
              <a:t>if</a:t>
            </a:r>
            <a:r>
              <a:rPr lang="pt-BR" dirty="0"/>
              <a:t> num == 5: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        # Break faz o loop finalizar</a:t>
            </a:r>
            <a:endParaRPr lang="pt-BR" b="1" dirty="0">
              <a:solidFill>
                <a:srgbClr val="FF0000"/>
              </a:solidFill>
            </a:endParaRPr>
          </a:p>
          <a:p>
            <a:r>
              <a:rPr lang="pt-BR" dirty="0"/>
              <a:t>        break</a:t>
            </a:r>
          </a:p>
          <a:p>
            <a:r>
              <a:rPr lang="pt-BR" dirty="0"/>
              <a:t>    </a:t>
            </a:r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    </a:t>
            </a:r>
            <a:r>
              <a:rPr lang="pt-BR" dirty="0" err="1"/>
              <a:t>print</a:t>
            </a:r>
            <a:r>
              <a:rPr lang="pt-BR" dirty="0"/>
              <a:t>(num)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296067" y="2705673"/>
            <a:ext cx="5632081" cy="233910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for num in range(5):</a:t>
            </a:r>
          </a:p>
          <a:p>
            <a:r>
              <a:rPr lang="pt-BR" dirty="0"/>
              <a:t>    </a:t>
            </a:r>
            <a:r>
              <a:rPr lang="pt-BR" dirty="0" err="1"/>
              <a:t>if</a:t>
            </a:r>
            <a:r>
              <a:rPr lang="pt-BR" dirty="0"/>
              <a:t> num == 3:</a:t>
            </a:r>
          </a:p>
          <a:p>
            <a:r>
              <a:rPr lang="pt-BR" dirty="0"/>
              <a:t>        </a:t>
            </a:r>
            <a:r>
              <a:rPr lang="pt-BR" dirty="0" err="1"/>
              <a:t>print</a:t>
            </a:r>
            <a:r>
              <a:rPr lang="pt-BR" dirty="0"/>
              <a:t>("Encontrei o 3")</a:t>
            </a:r>
          </a:p>
          <a:p>
            <a:r>
              <a:rPr lang="pt-BR" dirty="0"/>
              <a:t>        </a:t>
            </a:r>
            <a:r>
              <a:rPr lang="pt-BR" sz="2000" b="1" dirty="0">
                <a:solidFill>
                  <a:srgbClr val="FF0000"/>
                </a:solidFill>
              </a:rPr>
              <a:t># Executa o continue, pulando p/o próximo laço</a:t>
            </a:r>
          </a:p>
          <a:p>
            <a:r>
              <a:rPr lang="pt-BR" dirty="0"/>
              <a:t>        continue</a:t>
            </a:r>
          </a:p>
          <a:p>
            <a:r>
              <a:rPr lang="pt-BR" dirty="0"/>
              <a:t>    </a:t>
            </a:r>
            <a:r>
              <a:rPr lang="pt-BR" dirty="0" err="1"/>
              <a:t>else</a:t>
            </a:r>
            <a:r>
              <a:rPr lang="pt-BR" dirty="0"/>
              <a:t>:</a:t>
            </a:r>
          </a:p>
          <a:p>
            <a:r>
              <a:rPr lang="pt-BR" dirty="0"/>
              <a:t>        </a:t>
            </a:r>
            <a:r>
              <a:rPr lang="pt-BR" dirty="0" err="1"/>
              <a:t>print</a:t>
            </a:r>
            <a:r>
              <a:rPr lang="pt-BR" dirty="0"/>
              <a:t>(num)</a:t>
            </a:r>
          </a:p>
          <a:p>
            <a:r>
              <a:rPr lang="pt-BR" dirty="0"/>
              <a:t>    </a:t>
            </a:r>
            <a:r>
              <a:rPr lang="pt-BR" dirty="0" err="1"/>
              <a:t>print</a:t>
            </a:r>
            <a:r>
              <a:rPr lang="pt-BR" dirty="0"/>
              <a:t>("Estou abaixo do IF")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6296066" y="5013997"/>
            <a:ext cx="5632081" cy="175432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num = 0</a:t>
            </a:r>
          </a:p>
          <a:p>
            <a:r>
              <a:rPr lang="pt-BR" dirty="0" err="1"/>
              <a:t>while</a:t>
            </a:r>
            <a:r>
              <a:rPr lang="pt-BR" dirty="0"/>
              <a:t> num &lt; 5:</a:t>
            </a:r>
          </a:p>
          <a:p>
            <a:r>
              <a:rPr lang="pt-BR" dirty="0"/>
              <a:t>    num += 1</a:t>
            </a:r>
          </a:p>
          <a:p>
            <a:r>
              <a:rPr lang="pt-BR" dirty="0"/>
              <a:t>    </a:t>
            </a:r>
            <a:r>
              <a:rPr lang="pt-BR" dirty="0" err="1"/>
              <a:t>if</a:t>
            </a:r>
            <a:r>
              <a:rPr lang="pt-BR" dirty="0"/>
              <a:t> num == 3:</a:t>
            </a:r>
          </a:p>
          <a:p>
            <a:r>
              <a:rPr lang="pt-BR" dirty="0"/>
              <a:t>        continue</a:t>
            </a:r>
          </a:p>
          <a:p>
            <a:r>
              <a:rPr lang="pt" dirty="0"/>
              <a:t> </a:t>
            </a:r>
            <a:r>
              <a:rPr lang="pt-BR" dirty="0"/>
              <a:t>   </a:t>
            </a:r>
            <a:r>
              <a:rPr lang="pt-BR" dirty="0" err="1"/>
              <a:t>print</a:t>
            </a:r>
            <a:r>
              <a:rPr lang="pt-BR" dirty="0"/>
              <a:t>(num)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95536" y="4509172"/>
            <a:ext cx="5841242" cy="1754326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num = 0</a:t>
            </a:r>
          </a:p>
          <a:p>
            <a:r>
              <a:rPr lang="pt-BR" dirty="0" err="1"/>
              <a:t>while</a:t>
            </a:r>
            <a:r>
              <a:rPr lang="pt-BR" dirty="0"/>
              <a:t> num &lt; 5:</a:t>
            </a:r>
          </a:p>
          <a:p>
            <a:r>
              <a:rPr lang="pt-BR" dirty="0"/>
              <a:t>    num += 1</a:t>
            </a:r>
          </a:p>
          <a:p>
            <a:r>
              <a:rPr lang="pt-BR" dirty="0"/>
              <a:t>    </a:t>
            </a:r>
            <a:r>
              <a:rPr lang="pt-BR" dirty="0" err="1"/>
              <a:t>if</a:t>
            </a:r>
            <a:r>
              <a:rPr lang="pt-BR" dirty="0"/>
              <a:t> num == 3:</a:t>
            </a:r>
          </a:p>
          <a:p>
            <a:r>
              <a:rPr lang="pt-BR" dirty="0"/>
              <a:t>        break</a:t>
            </a:r>
          </a:p>
          <a:p>
            <a:r>
              <a:rPr lang="pt-BR" dirty="0"/>
              <a:t>    </a:t>
            </a:r>
            <a:r>
              <a:rPr lang="pt-BR" dirty="0" err="1"/>
              <a:t>print</a:t>
            </a:r>
            <a:r>
              <a:rPr lang="pt-BR" dirty="0"/>
              <a:t>(num)</a:t>
            </a:r>
          </a:p>
        </p:txBody>
      </p:sp>
    </p:spTree>
    <p:extLst>
      <p:ext uri="{BB962C8B-B14F-4D97-AF65-F5344CB8AC3E}">
        <p14:creationId xmlns:p14="http://schemas.microsoft.com/office/powerpoint/2010/main" val="42135042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8504" y="178720"/>
            <a:ext cx="11800114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Exercícios 16 – Elabore os seguintes programas em Python</a:t>
            </a:r>
          </a:p>
          <a:p>
            <a:endParaRPr lang="pt-BR" sz="2800" b="1" dirty="0">
              <a:solidFill>
                <a:srgbClr val="FF0000"/>
              </a:solidFill>
            </a:endParaRPr>
          </a:p>
          <a:p>
            <a:r>
              <a:rPr lang="pt-BR" dirty="0"/>
              <a:t> 1 - Programa que imprima a tabuada do 13.</a:t>
            </a:r>
          </a:p>
          <a:p>
            <a:endParaRPr lang="pt-BR" dirty="0"/>
          </a:p>
          <a:p>
            <a:r>
              <a:rPr lang="pt-BR" dirty="0"/>
              <a:t>2 - Programa que leia do teclado uma lista com 15 inteiros e imprima o menor valor.</a:t>
            </a:r>
          </a:p>
          <a:p>
            <a:endParaRPr lang="pt-BR" dirty="0"/>
          </a:p>
          <a:p>
            <a:r>
              <a:rPr lang="pt-BR" dirty="0"/>
              <a:t>3 - Programa que leia do teclado uma lista com 5 inteiros e imprima “</a:t>
            </a:r>
            <a:r>
              <a:rPr lang="pt-BR" dirty="0" err="1"/>
              <a:t>True</a:t>
            </a:r>
            <a:r>
              <a:rPr lang="pt-BR" dirty="0"/>
              <a:t>” se a lista estiver ordenada de forma crescente ou “False” caso contrário.</a:t>
            </a:r>
          </a:p>
          <a:p>
            <a:endParaRPr lang="pt-BR" dirty="0"/>
          </a:p>
          <a:p>
            <a:r>
              <a:rPr lang="pt-BR" dirty="0"/>
              <a:t>4 - Programa para imprimir em ordem decrescente todos os números de 500 até 10.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5 - Programa para ler do teclado 10 números e imprima a quantidade de números entre 10 e 50.</a:t>
            </a:r>
          </a:p>
          <a:p>
            <a:endParaRPr lang="pt-BR" dirty="0"/>
          </a:p>
          <a:p>
            <a:r>
              <a:rPr lang="pt-BR" dirty="0"/>
              <a:t>6 - Programa Ler do teclado a idade e o sexo de 10 pessoas, calcule e imprima:</a:t>
            </a:r>
          </a:p>
          <a:p>
            <a:endParaRPr lang="pt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idade média das mulheres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idade média dos homens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/>
              <a:t>idade média do grupo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6260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46743" y="478971"/>
            <a:ext cx="1180011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Exercícios 16 – Elabore os seguintes programas em Python (</a:t>
            </a:r>
            <a:r>
              <a:rPr lang="pt-BR" sz="2800" b="1" dirty="0" err="1">
                <a:solidFill>
                  <a:srgbClr val="FF0000"/>
                </a:solidFill>
              </a:rPr>
              <a:t>Cont</a:t>
            </a:r>
            <a:r>
              <a:rPr lang="pt-BR" sz="2800" b="1" dirty="0">
                <a:solidFill>
                  <a:srgbClr val="FF0000"/>
                </a:solidFill>
              </a:rPr>
              <a:t>)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7 – Programa que calcule o somatório dos números de 1 a 100 e imprima o resultado.</a:t>
            </a:r>
          </a:p>
          <a:p>
            <a:endParaRPr lang="pt" dirty="0"/>
          </a:p>
          <a:p>
            <a:r>
              <a:rPr lang="pt-BR" dirty="0"/>
              <a:t>8 – Programa que leia vários conjuntos de dois números inteiros correspondentes à largura e altura de um retângulo  e, para cada um deles, calcule a  respectiva área do retângulo e imprima a as medidas das áreas e dos lados. O conjunto de números acaba quando aparece o primeiro lado igual a 99.</a:t>
            </a:r>
          </a:p>
          <a:p>
            <a:endParaRPr lang="pt" dirty="0"/>
          </a:p>
          <a:p>
            <a:r>
              <a:rPr lang="pt-BR" dirty="0"/>
              <a:t>9 – Programa para ler do teclado um conjunto de números inteiros e imprima apenas os números primos. O conjunto acaba quando aparece o numero 1000.</a:t>
            </a:r>
          </a:p>
          <a:p>
            <a:endParaRPr lang="pt" dirty="0"/>
          </a:p>
          <a:p>
            <a:r>
              <a:rPr lang="pt-BR" dirty="0"/>
              <a:t>10 – Programa para controlar a capacidade máxima de um restaurante. Primeiro leia um numero inteiro que significa a capacidade máxima do restaurante. Depois o programa vai lendo vários números inteiros que significam os números dos clientes que entraram. Após o restaurante ficar cheio, imprima a mensagem “atingiu a capacidade máxima”.</a:t>
            </a:r>
          </a:p>
        </p:txBody>
      </p:sp>
    </p:spTree>
    <p:extLst>
      <p:ext uri="{BB962C8B-B14F-4D97-AF65-F5344CB8AC3E}">
        <p14:creationId xmlns:p14="http://schemas.microsoft.com/office/powerpoint/2010/main" val="37256490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3759</TotalTime>
  <Words>7170</Words>
  <Application>Microsoft Office PowerPoint</Application>
  <PresentationFormat>Widescreen</PresentationFormat>
  <Paragraphs>913</Paragraphs>
  <Slides>63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74" baseType="lpstr">
      <vt:lpstr>Abadi</vt:lpstr>
      <vt:lpstr>Aptos</vt:lpstr>
      <vt:lpstr>Arial</vt:lpstr>
      <vt:lpstr>Calibri</vt:lpstr>
      <vt:lpstr>Calibri Light</vt:lpstr>
      <vt:lpstr>Courier New</vt:lpstr>
      <vt:lpstr>Google Sans</vt:lpstr>
      <vt:lpstr>Lato</vt:lpstr>
      <vt:lpstr>Söhne Mono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Heraclito Amancio Pereira Junior</dc:creator>
  <cp:lastModifiedBy>Heraclito Amancio Pereira Junior</cp:lastModifiedBy>
  <cp:revision>235</cp:revision>
  <dcterms:created xsi:type="dcterms:W3CDTF">2022-09-04T13:14:36Z</dcterms:created>
  <dcterms:modified xsi:type="dcterms:W3CDTF">2025-09-21T17:36:49Z</dcterms:modified>
</cp:coreProperties>
</file>